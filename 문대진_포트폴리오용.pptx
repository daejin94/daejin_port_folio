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8" r:id="rId1"/>
  </p:sldMasterIdLst>
  <p:notesMasterIdLst>
    <p:notesMasterId r:id="rId13"/>
  </p:notesMasterIdLst>
  <p:handoutMasterIdLst>
    <p:handoutMasterId r:id="rId14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6" r:id="rId10"/>
    <p:sldId id="264" r:id="rId11"/>
    <p:sldId id="267" r:id="rId12"/>
  </p:sldIdLst>
  <p:sldSz cx="14257338" cy="8020050"/>
  <p:notesSz cx="6858000" cy="9144000"/>
  <p:embeddedFontLst>
    <p:embeddedFont>
      <p:font typeface="Noto Sans KR" panose="020B0200000000000000" pitchFamily="50" charset="-127"/>
      <p:regular r:id="rId15"/>
      <p:bold r:id="rId16"/>
    </p:embeddedFont>
    <p:embeddedFont>
      <p:font typeface="Noto Sans KR Black" panose="020B0200000000000000" pitchFamily="50" charset="-127"/>
      <p:bold r:id="rId17"/>
    </p:embeddedFont>
    <p:embeddedFont>
      <p:font typeface="SUIT Variable" pitchFamily="2" charset="-127"/>
      <p:regular r:id="rId18"/>
      <p:bold r:id="rId19"/>
    </p:embeddedFont>
    <p:embeddedFont>
      <p:font typeface="맑은 고딕" panose="020B0503020000020004" pitchFamily="50" charset="-127"/>
      <p:regular r:id="rId20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08D4E"/>
    <a:srgbClr val="80AF81"/>
    <a:srgbClr val="1A5319"/>
    <a:srgbClr val="2B9773"/>
    <a:srgbClr val="447B7E"/>
    <a:srgbClr val="468260"/>
    <a:srgbClr val="3A75B0"/>
    <a:srgbClr val="57B5AF"/>
    <a:srgbClr val="252525"/>
    <a:srgbClr val="BEE2E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6" autoAdjust="0"/>
    <p:restoredTop sz="94681" autoAdjust="0"/>
  </p:normalViewPr>
  <p:slideViewPr>
    <p:cSldViewPr snapToGrid="0">
      <p:cViewPr>
        <p:scale>
          <a:sx n="75" d="100"/>
          <a:sy n="75" d="100"/>
        </p:scale>
        <p:origin x="1566" y="64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864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font" Target="fonts/font7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font" Target="fonts/font3.fntdata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font" Target="fonts/font2.fntdata"/><Relationship Id="rId20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font" Target="fonts/font1.fntdata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font" Target="fonts/font5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handoutMaster" Target="handoutMasters/handoutMaster1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>
            <a:extLst>
              <a:ext uri="{FF2B5EF4-FFF2-40B4-BE49-F238E27FC236}">
                <a16:creationId xmlns:a16="http://schemas.microsoft.com/office/drawing/2014/main" id="{1C02A021-9EF5-3847-AA8A-10836C330B5E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47FF8038-A495-F40E-BB9F-C2F4A9B8F15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4BE6AFD-91E3-45AD-A05A-572BFF058F8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8E44C189-9C4F-A096-EBB1-B5049114A1F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791E3A-B62E-77E8-6758-024080DB366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545A9F2-EE39-4142-BEE3-5F3279CB6C4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8893263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10E417E-C2EC-425C-B420-CF724443A5AE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A436961-299C-49BC-BC33-AA2CF7FEB5F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24646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A436961-299C-49BC-BC33-AA2CF7FEB5F1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64006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82167" y="1312541"/>
            <a:ext cx="10693004" cy="2792166"/>
          </a:xfrm>
        </p:spPr>
        <p:txBody>
          <a:bodyPr anchor="b"/>
          <a:lstStyle>
            <a:lvl1pPr algn="ctr"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82167" y="4212383"/>
            <a:ext cx="10693004" cy="1936322"/>
          </a:xfrm>
        </p:spPr>
        <p:txBody>
          <a:bodyPr/>
          <a:lstStyle>
            <a:lvl1pPr marL="0" indent="0" algn="ctr">
              <a:buNone/>
              <a:defRPr sz="2807"/>
            </a:lvl1pPr>
            <a:lvl2pPr marL="534650" indent="0" algn="ctr">
              <a:buNone/>
              <a:defRPr sz="2339"/>
            </a:lvl2pPr>
            <a:lvl3pPr marL="1069299" indent="0" algn="ctr">
              <a:buNone/>
              <a:defRPr sz="2105"/>
            </a:lvl3pPr>
            <a:lvl4pPr marL="1603949" indent="0" algn="ctr">
              <a:buNone/>
              <a:defRPr sz="1871"/>
            </a:lvl4pPr>
            <a:lvl5pPr marL="2138599" indent="0" algn="ctr">
              <a:buNone/>
              <a:defRPr sz="1871"/>
            </a:lvl5pPr>
            <a:lvl6pPr marL="2673248" indent="0" algn="ctr">
              <a:buNone/>
              <a:defRPr sz="1871"/>
            </a:lvl6pPr>
            <a:lvl7pPr marL="3207898" indent="0" algn="ctr">
              <a:buNone/>
              <a:defRPr sz="1871"/>
            </a:lvl7pPr>
            <a:lvl8pPr marL="3742548" indent="0" algn="ctr">
              <a:buNone/>
              <a:defRPr sz="1871"/>
            </a:lvl8pPr>
            <a:lvl9pPr marL="4277197" indent="0" algn="ctr">
              <a:buNone/>
              <a:defRPr sz="1871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851129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69160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72766" y="1999444"/>
            <a:ext cx="12296954" cy="3336117"/>
          </a:xfrm>
        </p:spPr>
        <p:txBody>
          <a:bodyPr anchor="b"/>
          <a:lstStyle>
            <a:lvl1pPr>
              <a:defRPr sz="7016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766" y="5367123"/>
            <a:ext cx="12296954" cy="1754385"/>
          </a:xfrm>
        </p:spPr>
        <p:txBody>
          <a:bodyPr/>
          <a:lstStyle>
            <a:lvl1pPr marL="0" indent="0">
              <a:buNone/>
              <a:defRPr sz="2807">
                <a:solidFill>
                  <a:schemeClr val="tx1">
                    <a:tint val="75000"/>
                  </a:schemeClr>
                </a:solidFill>
              </a:defRPr>
            </a:lvl1pPr>
            <a:lvl2pPr marL="534650" indent="0">
              <a:buNone/>
              <a:defRPr sz="2339">
                <a:solidFill>
                  <a:schemeClr val="tx1">
                    <a:tint val="75000"/>
                  </a:schemeClr>
                </a:solidFill>
              </a:defRPr>
            </a:lvl2pPr>
            <a:lvl3pPr marL="1069299" indent="0">
              <a:buNone/>
              <a:defRPr sz="2105">
                <a:solidFill>
                  <a:schemeClr val="tx1">
                    <a:tint val="75000"/>
                  </a:schemeClr>
                </a:solidFill>
              </a:defRPr>
            </a:lvl3pPr>
            <a:lvl4pPr marL="160394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4pPr>
            <a:lvl5pPr marL="2138599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5pPr>
            <a:lvl6pPr marL="26732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6pPr>
            <a:lvl7pPr marL="320789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7pPr>
            <a:lvl8pPr marL="3742548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8pPr>
            <a:lvl9pPr marL="4277197" indent="0">
              <a:buNone/>
              <a:defRPr sz="1871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9171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80192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217777" y="2134967"/>
            <a:ext cx="6059369" cy="508864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0182161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49" y="426994"/>
            <a:ext cx="12296954" cy="1550172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2049" y="1966027"/>
            <a:ext cx="6031522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82049" y="2929546"/>
            <a:ext cx="6031522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217777" y="1966027"/>
            <a:ext cx="6061226" cy="963519"/>
          </a:xfrm>
        </p:spPr>
        <p:txBody>
          <a:bodyPr anchor="b"/>
          <a:lstStyle>
            <a:lvl1pPr marL="0" indent="0">
              <a:buNone/>
              <a:defRPr sz="2807" b="1"/>
            </a:lvl1pPr>
            <a:lvl2pPr marL="534650" indent="0">
              <a:buNone/>
              <a:defRPr sz="2339" b="1"/>
            </a:lvl2pPr>
            <a:lvl3pPr marL="1069299" indent="0">
              <a:buNone/>
              <a:defRPr sz="2105" b="1"/>
            </a:lvl3pPr>
            <a:lvl4pPr marL="1603949" indent="0">
              <a:buNone/>
              <a:defRPr sz="1871" b="1"/>
            </a:lvl4pPr>
            <a:lvl5pPr marL="2138599" indent="0">
              <a:buNone/>
              <a:defRPr sz="1871" b="1"/>
            </a:lvl5pPr>
            <a:lvl6pPr marL="2673248" indent="0">
              <a:buNone/>
              <a:defRPr sz="1871" b="1"/>
            </a:lvl6pPr>
            <a:lvl7pPr marL="3207898" indent="0">
              <a:buNone/>
              <a:defRPr sz="1871" b="1"/>
            </a:lvl7pPr>
            <a:lvl8pPr marL="3742548" indent="0">
              <a:buNone/>
              <a:defRPr sz="1871" b="1"/>
            </a:lvl8pPr>
            <a:lvl9pPr marL="4277197" indent="0">
              <a:buNone/>
              <a:defRPr sz="187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217777" y="2929546"/>
            <a:ext cx="6061226" cy="4308921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120534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300278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422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61226" y="1154739"/>
            <a:ext cx="7217777" cy="5699434"/>
          </a:xfrm>
        </p:spPr>
        <p:txBody>
          <a:bodyPr/>
          <a:lstStyle>
            <a:lvl1pPr>
              <a:defRPr sz="3742"/>
            </a:lvl1pPr>
            <a:lvl2pPr>
              <a:defRPr sz="3274"/>
            </a:lvl2pPr>
            <a:lvl3pPr>
              <a:defRPr sz="2807"/>
            </a:lvl3pPr>
            <a:lvl4pPr>
              <a:defRPr sz="2339"/>
            </a:lvl4pPr>
            <a:lvl5pPr>
              <a:defRPr sz="2339"/>
            </a:lvl5pPr>
            <a:lvl6pPr>
              <a:defRPr sz="2339"/>
            </a:lvl6pPr>
            <a:lvl7pPr>
              <a:defRPr sz="2339"/>
            </a:lvl7pPr>
            <a:lvl8pPr>
              <a:defRPr sz="2339"/>
            </a:lvl8pPr>
            <a:lvl9pPr>
              <a:defRPr sz="233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343318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82050" y="534670"/>
            <a:ext cx="4598362" cy="1871345"/>
          </a:xfrm>
        </p:spPr>
        <p:txBody>
          <a:bodyPr anchor="b"/>
          <a:lstStyle>
            <a:lvl1pPr>
              <a:defRPr sz="3742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061226" y="1154739"/>
            <a:ext cx="7217777" cy="5699434"/>
          </a:xfrm>
        </p:spPr>
        <p:txBody>
          <a:bodyPr anchor="t"/>
          <a:lstStyle>
            <a:lvl1pPr marL="0" indent="0">
              <a:buNone/>
              <a:defRPr sz="3742"/>
            </a:lvl1pPr>
            <a:lvl2pPr marL="534650" indent="0">
              <a:buNone/>
              <a:defRPr sz="3274"/>
            </a:lvl2pPr>
            <a:lvl3pPr marL="1069299" indent="0">
              <a:buNone/>
              <a:defRPr sz="2807"/>
            </a:lvl3pPr>
            <a:lvl4pPr marL="1603949" indent="0">
              <a:buNone/>
              <a:defRPr sz="2339"/>
            </a:lvl4pPr>
            <a:lvl5pPr marL="2138599" indent="0">
              <a:buNone/>
              <a:defRPr sz="2339"/>
            </a:lvl5pPr>
            <a:lvl6pPr marL="2673248" indent="0">
              <a:buNone/>
              <a:defRPr sz="2339"/>
            </a:lvl6pPr>
            <a:lvl7pPr marL="3207898" indent="0">
              <a:buNone/>
              <a:defRPr sz="2339"/>
            </a:lvl7pPr>
            <a:lvl8pPr marL="3742548" indent="0">
              <a:buNone/>
              <a:defRPr sz="2339"/>
            </a:lvl8pPr>
            <a:lvl9pPr marL="4277197" indent="0">
              <a:buNone/>
              <a:defRPr sz="2339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82050" y="2406015"/>
            <a:ext cx="4598362" cy="4457440"/>
          </a:xfrm>
        </p:spPr>
        <p:txBody>
          <a:bodyPr/>
          <a:lstStyle>
            <a:lvl1pPr marL="0" indent="0">
              <a:buNone/>
              <a:defRPr sz="1871"/>
            </a:lvl1pPr>
            <a:lvl2pPr marL="534650" indent="0">
              <a:buNone/>
              <a:defRPr sz="1637"/>
            </a:lvl2pPr>
            <a:lvl3pPr marL="1069299" indent="0">
              <a:buNone/>
              <a:defRPr sz="1403"/>
            </a:lvl3pPr>
            <a:lvl4pPr marL="1603949" indent="0">
              <a:buNone/>
              <a:defRPr sz="1169"/>
            </a:lvl4pPr>
            <a:lvl5pPr marL="2138599" indent="0">
              <a:buNone/>
              <a:defRPr sz="1169"/>
            </a:lvl5pPr>
            <a:lvl6pPr marL="2673248" indent="0">
              <a:buNone/>
              <a:defRPr sz="1169"/>
            </a:lvl6pPr>
            <a:lvl7pPr marL="3207898" indent="0">
              <a:buNone/>
              <a:defRPr sz="1169"/>
            </a:lvl7pPr>
            <a:lvl8pPr marL="3742548" indent="0">
              <a:buNone/>
              <a:defRPr sz="1169"/>
            </a:lvl8pPr>
            <a:lvl9pPr marL="4277197" indent="0">
              <a:buNone/>
              <a:defRPr sz="1169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60454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548179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202907" y="426993"/>
            <a:ext cx="3074239" cy="67966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980192" y="426993"/>
            <a:ext cx="9044499" cy="67966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70324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80192" y="426994"/>
            <a:ext cx="12296954" cy="155017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80192" y="2134967"/>
            <a:ext cx="12296954" cy="508864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80192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6A72A79-3CD5-45FF-B4A2-CB727F17E6E3}" type="datetimeFigureOut">
              <a:rPr lang="ko-KR" altLang="en-US" smtClean="0"/>
              <a:t>05-08(Thu)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722743" y="7433399"/>
            <a:ext cx="4811852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069245" y="7433399"/>
            <a:ext cx="3207901" cy="42699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403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1342A4-4CB5-46C4-A2B1-CAC0A0EB542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29106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069299" rtl="0" eaLnBrk="1" latinLnBrk="1" hangingPunct="1">
        <a:lnSpc>
          <a:spcPct val="90000"/>
        </a:lnSpc>
        <a:spcBef>
          <a:spcPct val="0"/>
        </a:spcBef>
        <a:buNone/>
        <a:defRPr sz="5145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67325" indent="-267325" algn="l" defTabSz="1069299" rtl="0" eaLnBrk="1" latinLnBrk="1" hangingPunct="1">
        <a:lnSpc>
          <a:spcPct val="90000"/>
        </a:lnSpc>
        <a:spcBef>
          <a:spcPts val="1169"/>
        </a:spcBef>
        <a:buFont typeface="Arial" panose="020B0604020202020204" pitchFamily="34" charset="0"/>
        <a:buChar char="•"/>
        <a:defRPr sz="3274" kern="1200">
          <a:solidFill>
            <a:schemeClr val="tx1"/>
          </a:solidFill>
          <a:latin typeface="+mn-lt"/>
          <a:ea typeface="+mn-ea"/>
          <a:cs typeface="+mn-cs"/>
        </a:defRPr>
      </a:lvl1pPr>
      <a:lvl2pPr marL="801975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807" kern="1200">
          <a:solidFill>
            <a:schemeClr val="tx1"/>
          </a:solidFill>
          <a:latin typeface="+mn-lt"/>
          <a:ea typeface="+mn-ea"/>
          <a:cs typeface="+mn-cs"/>
        </a:defRPr>
      </a:lvl2pPr>
      <a:lvl3pPr marL="13366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339" kern="1200">
          <a:solidFill>
            <a:schemeClr val="tx1"/>
          </a:solidFill>
          <a:latin typeface="+mn-lt"/>
          <a:ea typeface="+mn-ea"/>
          <a:cs typeface="+mn-cs"/>
        </a:defRPr>
      </a:lvl3pPr>
      <a:lvl4pPr marL="187127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405924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9405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47522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4009873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544522" indent="-267325" algn="l" defTabSz="1069299" rtl="0" eaLnBrk="1" latinLnBrk="1" hangingPunct="1">
        <a:lnSpc>
          <a:spcPct val="90000"/>
        </a:lnSpc>
        <a:spcBef>
          <a:spcPts val="585"/>
        </a:spcBef>
        <a:buFont typeface="Arial" panose="020B0604020202020204" pitchFamily="34" charset="0"/>
        <a:buChar char="•"/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1pPr>
      <a:lvl2pPr marL="534650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2pPr>
      <a:lvl3pPr marL="10692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3pPr>
      <a:lvl4pPr marL="160394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4pPr>
      <a:lvl5pPr marL="2138599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5pPr>
      <a:lvl6pPr marL="26732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6pPr>
      <a:lvl7pPr marL="320789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7pPr>
      <a:lvl8pPr marL="3742548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8pPr>
      <a:lvl9pPr marL="4277197" algn="l" defTabSz="1069299" rtl="0" eaLnBrk="1" latinLnBrk="1" hangingPunct="1">
        <a:defRPr sz="210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3.svg"/><Relationship Id="rId9" Type="http://schemas.openxmlformats.org/officeDocument/2006/relationships/image" Target="../media/image8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sv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sv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aaronryu.notion.site/14f2b2fcf42c80589e15c538ecfb9908" TargetMode="External"/><Relationship Id="rId2" Type="http://schemas.openxmlformats.org/officeDocument/2006/relationships/hyperlink" Target="https://asac.oopy.io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aaronryu.notion.site/" TargetMode="External"/><Relationship Id="rId5" Type="http://schemas.openxmlformats.org/officeDocument/2006/relationships/hyperlink" Target="https://www.notion.so/1cc12a59fa388046a519dbbb0213fc58?pvs=4#1eb12a59fa388093be6edca5b736d462" TargetMode="External"/><Relationship Id="rId4" Type="http://schemas.openxmlformats.org/officeDocument/2006/relationships/hyperlink" Target="https://file.notion.so/f/f/bc6d36ed-04f7-4131-9996-d9ef89865e34/f6175de4-22b7-47b1-bf9d-14c37eafefd7/ALYES_%EB%B0%9C%ED%91%9C%EC%9E%90%EB%A3%8C.pdf?table=block&amp;id=1c012a59-fa38-8123-b8b2-dc4aa3cedb12&amp;spaceId=bc6d36ed-04f7-4131-9996-d9ef89865e34&amp;expirationTimestamp=1743688800000&amp;signature=7WqQx-mF98m9jbov53mDxH9v_ZGWVM5X-z7GEPpEZ1o&amp;downloadName=ALYES+%EB%B0%9C%ED%91%9C%EC%9E%90%EB%A3%8Cpdf.pdf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play.google.com/store/apps/details?id=net.wins.ktraon2&amp;hl=ko" TargetMode="External"/><Relationship Id="rId2" Type="http://schemas.openxmlformats.org/officeDocument/2006/relationships/hyperlink" Target="https://w-ins.net/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play.google.com/store/apps/details?id=net.wins.skroicv4&amp;hl=ko" TargetMode="Externa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notion.so/1cc12a59fa388046a519dbbb0213fc58?pvs=4#1cc12a59fa3880c49474d7c1e4f9e3c2" TargetMode="External"/><Relationship Id="rId2" Type="http://schemas.openxmlformats.org/officeDocument/2006/relationships/hyperlink" Target="https://support.google.com/googleplay/android-developer/answer/11926878?hl=ko" TargetMode="Externa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cc12a59fa38804b9f5ff918eeff8c21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d212a59fa3880839b6efb1ae1a8f0d7" TargetMode="Externa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notion.so/1cc12a59fa388046a519dbbb0213fc58?pvs=4#1e012a59fa3880f2a8a6d373074676bc" TargetMode="Externa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Jbx-mKfPKNs" TargetMode="External"/><Relationship Id="rId2" Type="http://schemas.openxmlformats.org/officeDocument/2006/relationships/hyperlink" Target="https://www.notion.so/1cc12a59fa388046a519dbbb0213fc58?pvs=4#1e512a59fa38800fa849c9170892f46a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직사각형 15">
            <a:extLst>
              <a:ext uri="{FF2B5EF4-FFF2-40B4-BE49-F238E27FC236}">
                <a16:creationId xmlns:a16="http://schemas.microsoft.com/office/drawing/2014/main" id="{83775BDF-20AD-D86C-3053-50526BEDF5B0}"/>
              </a:ext>
            </a:extLst>
          </p:cNvPr>
          <p:cNvSpPr/>
          <p:nvPr/>
        </p:nvSpPr>
        <p:spPr>
          <a:xfrm>
            <a:off x="4971396" y="1556049"/>
            <a:ext cx="8523942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FF5BAE1D-55F8-1197-A2DF-9FBBDF1C1C6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2000" y="1628775"/>
            <a:ext cx="3578757" cy="4762500"/>
          </a:xfrm>
          <a:prstGeom prst="roundRect">
            <a:avLst>
              <a:gd name="adj" fmla="val 26317"/>
            </a:avLst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8D319E8-A721-72C4-BBB0-C22656583289}"/>
              </a:ext>
            </a:extLst>
          </p:cNvPr>
          <p:cNvSpPr txBox="1"/>
          <p:nvPr/>
        </p:nvSpPr>
        <p:spPr>
          <a:xfrm>
            <a:off x="520995" y="564922"/>
            <a:ext cx="406076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000" b="1" dirty="0">
                <a:solidFill>
                  <a:srgbClr val="508D4E"/>
                </a:solidFill>
              </a:rPr>
              <a:t>문대진 </a:t>
            </a:r>
            <a:r>
              <a:rPr lang="en-US" altLang="ko-KR" sz="4000" b="1" dirty="0">
                <a:solidFill>
                  <a:srgbClr val="508D4E"/>
                </a:solidFill>
              </a:rPr>
              <a:t>Portfolio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4ACD85-82D5-168C-C714-69186C0D0439}"/>
              </a:ext>
            </a:extLst>
          </p:cNvPr>
          <p:cNvSpPr txBox="1"/>
          <p:nvPr/>
        </p:nvSpPr>
        <p:spPr>
          <a:xfrm>
            <a:off x="4951571" y="1628775"/>
            <a:ext cx="88920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300" b="1" dirty="0">
                <a:solidFill>
                  <a:srgbClr val="508D4E"/>
                </a:solidFill>
              </a:rPr>
              <a:t>💡 </a:t>
            </a:r>
            <a:r>
              <a:rPr lang="ko-KR" altLang="en-US" sz="2400" b="1" dirty="0">
                <a:solidFill>
                  <a:srgbClr val="508D4E"/>
                </a:solidFill>
              </a:rPr>
              <a:t>다양한 경험</a:t>
            </a:r>
            <a:r>
              <a:rPr lang="ko-KR" altLang="en-US" sz="2400" b="1" dirty="0"/>
              <a:t>을 통해 </a:t>
            </a:r>
            <a:r>
              <a:rPr lang="ko-KR" altLang="en-US" sz="2400" b="1" dirty="0">
                <a:solidFill>
                  <a:srgbClr val="508D4E"/>
                </a:solidFill>
              </a:rPr>
              <a:t>사용자의 만족감을 고민</a:t>
            </a:r>
            <a:r>
              <a:rPr lang="ko-KR" altLang="en-US" sz="2400" b="1" dirty="0"/>
              <a:t>하는 </a:t>
            </a:r>
            <a:r>
              <a:rPr lang="ko-KR" altLang="en-US" sz="2400" b="1" dirty="0" err="1"/>
              <a:t>백엔드</a:t>
            </a:r>
            <a:r>
              <a:rPr lang="ko-KR" altLang="en-US" sz="2400" b="1" dirty="0"/>
              <a:t> 개발자</a:t>
            </a:r>
            <a:endParaRPr lang="ko-KR" altLang="en-US" sz="2300" b="1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451361-F773-C97A-D4C5-3DB0EF73BB00}"/>
              </a:ext>
            </a:extLst>
          </p:cNvPr>
          <p:cNvSpPr txBox="1"/>
          <p:nvPr/>
        </p:nvSpPr>
        <p:spPr>
          <a:xfrm>
            <a:off x="4951571" y="23168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🚩 </a:t>
            </a:r>
            <a:r>
              <a:rPr lang="en-US" altLang="ko-KR" sz="2200" b="1" dirty="0"/>
              <a:t>Contact me</a:t>
            </a:r>
            <a:endParaRPr lang="ko-KR" altLang="en-US" sz="2200" b="1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18D49BD-15C6-D122-3435-1E2FDD67B046}"/>
              </a:ext>
            </a:extLst>
          </p:cNvPr>
          <p:cNvSpPr txBox="1"/>
          <p:nvPr/>
        </p:nvSpPr>
        <p:spPr>
          <a:xfrm>
            <a:off x="5108027" y="2747753"/>
            <a:ext cx="511724" cy="17070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📧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📞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>
                <a:effectLst/>
              </a:rPr>
              <a:t>👾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🔗</a:t>
            </a:r>
            <a:endParaRPr lang="en-US" altLang="ko-KR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F994823-E5DF-BDF0-ECD9-6CA0614FBEBF}"/>
              </a:ext>
            </a:extLst>
          </p:cNvPr>
          <p:cNvSpPr txBox="1"/>
          <p:nvPr/>
        </p:nvSpPr>
        <p:spPr>
          <a:xfrm>
            <a:off x="5696334" y="2747753"/>
            <a:ext cx="5139559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/>
              <a:t>eowls1358@gmail.com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010-5021-6864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https://github.com/daejin94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https://velog.io/@q1w2e3r4/posts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352077E-9821-BCE7-288E-E57B3F0728D7}"/>
              </a:ext>
            </a:extLst>
          </p:cNvPr>
          <p:cNvSpPr txBox="1"/>
          <p:nvPr/>
        </p:nvSpPr>
        <p:spPr>
          <a:xfrm>
            <a:off x="4951571" y="4670266"/>
            <a:ext cx="8301973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200" b="1" dirty="0"/>
              <a:t>🏫 </a:t>
            </a:r>
            <a:r>
              <a:rPr lang="en-US" altLang="ko-KR" sz="2200" b="1" dirty="0"/>
              <a:t>Education</a:t>
            </a:r>
            <a:endParaRPr lang="ko-KR" altLang="en-US" sz="2200" b="1" dirty="0"/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E28F81-E8CB-ED0E-2726-E95F919BD11E}"/>
              </a:ext>
            </a:extLst>
          </p:cNvPr>
          <p:cNvSpPr txBox="1"/>
          <p:nvPr/>
        </p:nvSpPr>
        <p:spPr>
          <a:xfrm>
            <a:off x="849981" y="6476154"/>
            <a:ext cx="340279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2400" b="1" dirty="0"/>
              <a:t>Backend Developer</a:t>
            </a:r>
            <a:endParaRPr lang="ko-KR" altLang="en-US" sz="24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3B52106-A335-583C-2506-EAB31E345892}"/>
              </a:ext>
            </a:extLst>
          </p:cNvPr>
          <p:cNvSpPr txBox="1"/>
          <p:nvPr/>
        </p:nvSpPr>
        <p:spPr>
          <a:xfrm>
            <a:off x="5031444" y="5170712"/>
            <a:ext cx="664890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150000"/>
              </a:lnSpc>
            </a:pPr>
            <a:r>
              <a:rPr lang="en-US" altLang="ko-KR" b="1" dirty="0"/>
              <a:t>1</a:t>
            </a:r>
            <a:r>
              <a:rPr lang="ko-KR" altLang="en-US" b="1" dirty="0"/>
              <a:t>년</a:t>
            </a:r>
            <a:endParaRPr lang="en-US" altLang="ko-KR" b="1" dirty="0"/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  <a:p>
            <a:pPr algn="r">
              <a:lnSpc>
                <a:spcPct val="150000"/>
              </a:lnSpc>
            </a:pP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3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년</a:t>
            </a:r>
            <a:endParaRPr lang="en-US" altLang="ko-KR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A8DBE5-C52C-F8C1-D354-DA1273133B88}"/>
              </a:ext>
            </a:extLst>
          </p:cNvPr>
          <p:cNvSpPr txBox="1"/>
          <p:nvPr/>
        </p:nvSpPr>
        <p:spPr>
          <a:xfrm>
            <a:off x="5696333" y="5170712"/>
            <a:ext cx="7115899" cy="12926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b="1" dirty="0"/>
              <a:t>신구대학교 </a:t>
            </a:r>
            <a:r>
              <a:rPr lang="en-US" altLang="ko-KR" b="1" dirty="0"/>
              <a:t>IT </a:t>
            </a:r>
            <a:r>
              <a:rPr lang="ko-KR" altLang="en-US" b="1" dirty="0"/>
              <a:t>미디어 학과 전공 심화 과정 </a:t>
            </a:r>
            <a:r>
              <a:rPr lang="en-US" altLang="ko-KR" b="1" dirty="0"/>
              <a:t>(</a:t>
            </a:r>
            <a:r>
              <a:rPr lang="ko-KR" altLang="en-US" b="1" dirty="0"/>
              <a:t>야간</a:t>
            </a:r>
            <a:r>
              <a:rPr lang="en-US" altLang="ko-KR" b="1" dirty="0"/>
              <a:t>)</a:t>
            </a:r>
            <a:r>
              <a:rPr lang="ko-KR" altLang="en-US" b="1" dirty="0"/>
              <a:t> 졸업 </a:t>
            </a:r>
            <a:r>
              <a:rPr lang="en-US" altLang="ko-KR" b="1" dirty="0"/>
              <a:t>(21.03 ~ (22.02)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신구대학교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IT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미디어 학과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(13.03 ~ 19.02)</a:t>
            </a:r>
          </a:p>
          <a:p>
            <a:pPr>
              <a:lnSpc>
                <a:spcPct val="150000"/>
              </a:lnSpc>
            </a:pP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경기 광주 중앙 고등학교 산업 기계과 졸업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(10.03 ~ 13.02)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6F6316B8-2391-DC25-7B47-C800C6579980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2BFB84B-41B0-CFCD-ACF3-0D052C45507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79E213ED-D956-3143-796E-55E89CEE88A5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DE362E9B-0BD6-29EA-7A2A-8187524C69CF}"/>
              </a:ext>
            </a:extLst>
          </p:cNvPr>
          <p:cNvGrpSpPr/>
          <p:nvPr/>
        </p:nvGrpSpPr>
        <p:grpSpPr>
          <a:xfrm rot="10800000">
            <a:off x="-738187" y="7575223"/>
            <a:ext cx="8048131" cy="889653"/>
            <a:chOff x="-496887" y="7180870"/>
            <a:chExt cx="8048131" cy="889653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100274BA-C7D7-D4DA-8084-45FC3C7E098B}"/>
                </a:ext>
              </a:extLst>
            </p:cNvPr>
            <p:cNvSpPr/>
            <p:nvPr/>
          </p:nvSpPr>
          <p:spPr>
            <a:xfrm>
              <a:off x="-496887" y="7180870"/>
              <a:ext cx="3327400" cy="889653"/>
            </a:xfrm>
            <a:prstGeom prst="rect">
              <a:avLst/>
            </a:prstGeom>
            <a:solidFill>
              <a:srgbClr val="80AF8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8" name="직사각형 7">
              <a:extLst>
                <a:ext uri="{FF2B5EF4-FFF2-40B4-BE49-F238E27FC236}">
                  <a16:creationId xmlns:a16="http://schemas.microsoft.com/office/drawing/2014/main" id="{F705C2AC-1259-5300-2731-2ACA21D7284F}"/>
                </a:ext>
              </a:extLst>
            </p:cNvPr>
            <p:cNvSpPr/>
            <p:nvPr/>
          </p:nvSpPr>
          <p:spPr>
            <a:xfrm>
              <a:off x="1668245" y="7180870"/>
              <a:ext cx="3327400" cy="889653"/>
            </a:xfrm>
            <a:prstGeom prst="rect">
              <a:avLst/>
            </a:prstGeom>
            <a:solidFill>
              <a:srgbClr val="508D4E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9A250AE2-9F62-5B89-D726-5C6755FFF93F}"/>
                </a:ext>
              </a:extLst>
            </p:cNvPr>
            <p:cNvSpPr/>
            <p:nvPr/>
          </p:nvSpPr>
          <p:spPr>
            <a:xfrm>
              <a:off x="4223844" y="7180870"/>
              <a:ext cx="3327400" cy="889653"/>
            </a:xfrm>
            <a:prstGeom prst="rect">
              <a:avLst/>
            </a:prstGeom>
            <a:solidFill>
              <a:srgbClr val="1A5319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26292532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직사각형 24">
            <a:extLst>
              <a:ext uri="{FF2B5EF4-FFF2-40B4-BE49-F238E27FC236}">
                <a16:creationId xmlns:a16="http://schemas.microsoft.com/office/drawing/2014/main" id="{2D5FA05E-D3FF-35D2-A2BE-4886A17F0585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3" name="그룹 2">
            <a:extLst>
              <a:ext uri="{FF2B5EF4-FFF2-40B4-BE49-F238E27FC236}">
                <a16:creationId xmlns:a16="http://schemas.microsoft.com/office/drawing/2014/main" id="{55EB93E4-7584-D6BA-27BF-DC9B77BD8018}"/>
              </a:ext>
            </a:extLst>
          </p:cNvPr>
          <p:cNvGrpSpPr/>
          <p:nvPr/>
        </p:nvGrpSpPr>
        <p:grpSpPr>
          <a:xfrm>
            <a:off x="11435465" y="1978022"/>
            <a:ext cx="1440000" cy="1440000"/>
            <a:chOff x="11430113" y="1567466"/>
            <a:chExt cx="1440000" cy="1440000"/>
          </a:xfrm>
        </p:grpSpPr>
        <p:sp>
          <p:nvSpPr>
            <p:cNvPr id="2" name="타원 1">
              <a:extLst>
                <a:ext uri="{FF2B5EF4-FFF2-40B4-BE49-F238E27FC236}">
                  <a16:creationId xmlns:a16="http://schemas.microsoft.com/office/drawing/2014/main" id="{E4F976B7-4E4A-8910-CD36-A7DC5D30C4C3}"/>
                </a:ext>
              </a:extLst>
            </p:cNvPr>
            <p:cNvSpPr/>
            <p:nvPr/>
          </p:nvSpPr>
          <p:spPr>
            <a:xfrm>
              <a:off x="11430113" y="1567466"/>
              <a:ext cx="1440000" cy="1440000"/>
            </a:xfrm>
            <a:prstGeom prst="ellipse">
              <a:avLst/>
            </a:prstGeom>
            <a:solidFill>
              <a:srgbClr val="3A75B0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pic>
          <p:nvPicPr>
            <p:cNvPr id="19" name="그래픽 18">
              <a:extLst>
                <a:ext uri="{FF2B5EF4-FFF2-40B4-BE49-F238E27FC236}">
                  <a16:creationId xmlns:a16="http://schemas.microsoft.com/office/drawing/2014/main" id="{1186462B-CBD1-872C-AC77-F1A076D19E84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 r="59224"/>
            <a:stretch/>
          </p:blipFill>
          <p:spPr>
            <a:xfrm>
              <a:off x="11772022" y="1818289"/>
              <a:ext cx="765260" cy="938356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CCC38F1-843C-B3D0-4355-58F1DE1FE629}"/>
              </a:ext>
            </a:extLst>
          </p:cNvPr>
          <p:cNvSpPr txBox="1"/>
          <p:nvPr/>
        </p:nvSpPr>
        <p:spPr>
          <a:xfrm>
            <a:off x="1120555" y="2234046"/>
            <a:ext cx="10323988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Java</a:t>
            </a:r>
            <a:r>
              <a:rPr lang="en-US" altLang="ko-KR" dirty="0"/>
              <a:t>: 3</a:t>
            </a:r>
            <a:r>
              <a:rPr lang="ko-KR" altLang="en-US" dirty="0"/>
              <a:t>년 차 안드로이드 개발 경험 및 최근 </a:t>
            </a:r>
            <a:r>
              <a:rPr lang="en-US" altLang="ko-KR" dirty="0"/>
              <a:t>Spring Boot </a:t>
            </a:r>
            <a:r>
              <a:rPr lang="ko-KR" altLang="en-US" dirty="0"/>
              <a:t>로의 전환 이후 프로젝트 </a:t>
            </a:r>
            <a:r>
              <a:rPr lang="en-US" altLang="ko-KR" dirty="0"/>
              <a:t>2</a:t>
            </a:r>
            <a:r>
              <a:rPr lang="ko-KR" altLang="en-US" dirty="0"/>
              <a:t>개 참여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인터페이스</a:t>
            </a:r>
            <a:r>
              <a:rPr lang="en-US" altLang="ko-KR" dirty="0"/>
              <a:t>, </a:t>
            </a:r>
            <a:r>
              <a:rPr lang="ko-KR" altLang="en-US" dirty="0"/>
              <a:t>추상 클래스 조합 및 </a:t>
            </a:r>
            <a:r>
              <a:rPr lang="en-US" altLang="ko-KR" dirty="0"/>
              <a:t>SOLID </a:t>
            </a:r>
            <a:r>
              <a:rPr lang="ko-KR" altLang="en-US" dirty="0"/>
              <a:t>원칙과 디자인 패턴을 통한 객체 지향 및 함수형 프로그래밍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Stream</a:t>
            </a:r>
            <a:r>
              <a:rPr lang="ko-KR" altLang="en-US" dirty="0"/>
              <a:t>을 사용한 배열 및 리스트 처리</a:t>
            </a:r>
            <a:r>
              <a:rPr lang="en-US" altLang="ko-KR" dirty="0"/>
              <a:t>, Optional</a:t>
            </a:r>
            <a:r>
              <a:rPr lang="ko-KR" altLang="en-US" dirty="0"/>
              <a:t>을 이용한 </a:t>
            </a:r>
            <a:r>
              <a:rPr lang="en-US" altLang="ko-KR" dirty="0"/>
              <a:t>Null Guarding </a:t>
            </a:r>
            <a:r>
              <a:rPr lang="ko-KR" altLang="en-US" dirty="0"/>
              <a:t>코딩</a:t>
            </a:r>
            <a:endParaRPr lang="en-US" altLang="ko-KR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Spring Boot</a:t>
            </a:r>
            <a:r>
              <a:rPr lang="en-US" altLang="ko-KR" dirty="0"/>
              <a:t>: JPA </a:t>
            </a:r>
            <a:r>
              <a:rPr lang="ko-KR" altLang="en-US" dirty="0"/>
              <a:t>사용한 </a:t>
            </a:r>
            <a:r>
              <a:rPr lang="en-US" altLang="ko-KR" dirty="0"/>
              <a:t>DB CRUD </a:t>
            </a:r>
            <a:r>
              <a:rPr lang="ko-KR" altLang="en-US" dirty="0"/>
              <a:t>및 관리</a:t>
            </a:r>
            <a:r>
              <a:rPr lang="en-US" altLang="ko-KR" dirty="0"/>
              <a:t>, MVC </a:t>
            </a:r>
            <a:r>
              <a:rPr lang="ko-KR" altLang="en-US" dirty="0"/>
              <a:t>패턴 및 </a:t>
            </a:r>
            <a:r>
              <a:rPr lang="en-US" altLang="ko-KR" dirty="0"/>
              <a:t>3-Layer Architecture </a:t>
            </a:r>
            <a:r>
              <a:rPr lang="ko-KR" altLang="en-US" dirty="0"/>
              <a:t>감안한 </a:t>
            </a:r>
            <a:r>
              <a:rPr lang="en-US" altLang="ko-KR" dirty="0"/>
              <a:t>API </a:t>
            </a:r>
            <a:r>
              <a:rPr lang="ko-KR" altLang="en-US" dirty="0"/>
              <a:t>설계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QueryMethod</a:t>
            </a:r>
            <a:r>
              <a:rPr lang="en-US" altLang="ko-KR" dirty="0"/>
              <a:t> </a:t>
            </a:r>
            <a:r>
              <a:rPr lang="ko-KR" altLang="en-US" dirty="0"/>
              <a:t>및 </a:t>
            </a:r>
            <a:r>
              <a:rPr lang="en-US" altLang="ko-KR" dirty="0"/>
              <a:t>Native Query</a:t>
            </a:r>
            <a:r>
              <a:rPr lang="ko-KR" altLang="en-US" dirty="0"/>
              <a:t>를 통한 </a:t>
            </a:r>
            <a:r>
              <a:rPr lang="en-US" altLang="ko-KR" dirty="0"/>
              <a:t>DB CRUD. Projection </a:t>
            </a:r>
            <a:r>
              <a:rPr lang="ko-KR" altLang="en-US" dirty="0"/>
              <a:t>사용을 통한 쿼리 최적화 진행</a:t>
            </a:r>
            <a:r>
              <a:rPr lang="en-US" altLang="ko-KR" dirty="0"/>
              <a:t>.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ResponseEntity</a:t>
            </a:r>
            <a:r>
              <a:rPr lang="en-US" altLang="ko-KR" dirty="0"/>
              <a:t> </a:t>
            </a:r>
            <a:r>
              <a:rPr lang="ko-KR" altLang="en-US" dirty="0"/>
              <a:t>커스텀을 통한 응답 메시지 최적화</a:t>
            </a:r>
            <a:r>
              <a:rPr lang="en-US" altLang="ko-KR" dirty="0"/>
              <a:t>. Facade </a:t>
            </a:r>
            <a:r>
              <a:rPr lang="ko-KR" altLang="en-US" dirty="0"/>
              <a:t>패턴을 통한 </a:t>
            </a:r>
            <a:r>
              <a:rPr lang="en-US" altLang="ko-KR" dirty="0"/>
              <a:t>3-Layer </a:t>
            </a:r>
            <a:r>
              <a:rPr lang="ko-KR" altLang="en-US" dirty="0"/>
              <a:t>확장 설계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 err="1"/>
              <a:t>Andorid</a:t>
            </a:r>
            <a:r>
              <a:rPr lang="en-US" altLang="ko-KR" dirty="0"/>
              <a:t>: Life Cycle </a:t>
            </a:r>
            <a:r>
              <a:rPr lang="ko-KR" altLang="en-US" dirty="0"/>
              <a:t>고려한 앱 개발 및 </a:t>
            </a:r>
            <a:r>
              <a:rPr lang="en-US" altLang="ko-KR" dirty="0"/>
              <a:t>Glide, KNOX </a:t>
            </a:r>
            <a:r>
              <a:rPr lang="ko-KR" altLang="en-US" dirty="0"/>
              <a:t>같은 라이브러리를 통한 개발 및 유지 보수 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 err="1"/>
              <a:t>PlayStore</a:t>
            </a:r>
            <a:r>
              <a:rPr lang="en-US" altLang="ko-KR" dirty="0"/>
              <a:t> </a:t>
            </a:r>
            <a:r>
              <a:rPr lang="ko-KR" altLang="en-US" dirty="0"/>
              <a:t>업데이트 및 의견 제출을 통한 앱 민감 권한 사용 유지</a:t>
            </a:r>
          </a:p>
          <a:p>
            <a:pPr marL="685800" lvl="1" indent="-228600">
              <a:buFont typeface="Arial" panose="020B0604020202020204" pitchFamily="34" charset="0"/>
              <a:buChar char="•"/>
            </a:pPr>
            <a:r>
              <a:rPr lang="en-US" altLang="ko-KR" dirty="0"/>
              <a:t>KNOX(Samsung), </a:t>
            </a:r>
            <a:r>
              <a:rPr lang="ko-KR" altLang="en-US" dirty="0"/>
              <a:t>백신 </a:t>
            </a:r>
            <a:r>
              <a:rPr lang="en-US" altLang="ko-KR" dirty="0"/>
              <a:t>MSDK(</a:t>
            </a:r>
            <a:r>
              <a:rPr lang="ko-KR" altLang="en-US" dirty="0" err="1"/>
              <a:t>안랩</a:t>
            </a:r>
            <a:r>
              <a:rPr lang="en-US" altLang="ko-KR" dirty="0"/>
              <a:t>)</a:t>
            </a:r>
            <a:r>
              <a:rPr lang="ko-KR" altLang="en-US" dirty="0"/>
              <a:t>을 통한 외부 회사의 라이브러리 사용 및 협업 경험</a:t>
            </a:r>
            <a:endParaRPr lang="en-US" altLang="ko-KR" dirty="0"/>
          </a:p>
          <a:p>
            <a:pPr marL="685800" lvl="1" indent="-22860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28600" indent="-228600">
              <a:buFont typeface="Arial" panose="020B0604020202020204" pitchFamily="34" charset="0"/>
              <a:buChar char="•"/>
            </a:pPr>
            <a:r>
              <a:rPr lang="en-US" altLang="ko-KR" b="1" dirty="0"/>
              <a:t>C# - ASP.NET</a:t>
            </a:r>
            <a:r>
              <a:rPr lang="en-US" altLang="ko-KR" dirty="0"/>
              <a:t>: 10</a:t>
            </a:r>
            <a:r>
              <a:rPr lang="ko-KR" altLang="en-US" dirty="0"/>
              <a:t>개월 간의 서버 이전 프로젝트 및 </a:t>
            </a:r>
            <a:r>
              <a:rPr lang="en-US" altLang="ko-KR" dirty="0"/>
              <a:t>1</a:t>
            </a:r>
            <a:r>
              <a:rPr lang="ko-KR" altLang="en-US" dirty="0"/>
              <a:t>년 간의 </a:t>
            </a:r>
            <a:r>
              <a:rPr lang="en-US" altLang="ko-KR" dirty="0"/>
              <a:t>ASP, ASP.NET</a:t>
            </a:r>
            <a:r>
              <a:rPr lang="ko-KR" altLang="en-US" dirty="0"/>
              <a:t> 서비스 유지 보수 경험 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dirty="0"/>
              <a:t>DBMS </a:t>
            </a:r>
            <a:r>
              <a:rPr lang="ko-KR" altLang="en-US" dirty="0"/>
              <a:t>변경 이슈로 </a:t>
            </a:r>
            <a:r>
              <a:rPr lang="en-US" altLang="ko-KR" dirty="0" err="1"/>
              <a:t>SqlHelper</a:t>
            </a:r>
            <a:r>
              <a:rPr lang="en-US" altLang="ko-KR" dirty="0"/>
              <a:t> </a:t>
            </a:r>
            <a:r>
              <a:rPr lang="ko-KR" altLang="en-US" dirty="0"/>
              <a:t>라이브러리를 사용한 로직을 </a:t>
            </a:r>
            <a:r>
              <a:rPr lang="en-US" altLang="ko-KR" dirty="0"/>
              <a:t>ODBC </a:t>
            </a:r>
            <a:r>
              <a:rPr lang="ko-KR" altLang="en-US" dirty="0"/>
              <a:t>드라이버 라이브러리로 교체</a:t>
            </a:r>
            <a:r>
              <a:rPr lang="en-US" altLang="ko-KR" dirty="0"/>
              <a:t>. 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로직에 영향을 주지 않고 </a:t>
            </a:r>
            <a:r>
              <a:rPr lang="en-US" altLang="ko-KR" dirty="0"/>
              <a:t>RDBMS </a:t>
            </a:r>
            <a:r>
              <a:rPr lang="ko-KR" altLang="en-US" dirty="0"/>
              <a:t>변경이 가능하도록 </a:t>
            </a:r>
            <a:r>
              <a:rPr lang="en-US" altLang="ko-KR" dirty="0"/>
              <a:t>2~300</a:t>
            </a:r>
            <a:r>
              <a:rPr lang="ko-KR" altLang="en-US" dirty="0"/>
              <a:t>라인만으로 적용</a:t>
            </a:r>
          </a:p>
          <a:p>
            <a:pPr marL="1143000" lvl="2" indent="-228600">
              <a:buFont typeface="Arial" panose="020B0604020202020204" pitchFamily="34" charset="0"/>
              <a:buChar char="•"/>
            </a:pPr>
            <a:r>
              <a:rPr lang="en-US" altLang="ko-KR" dirty="0"/>
              <a:t>4000</a:t>
            </a:r>
            <a:r>
              <a:rPr lang="ko-KR" altLang="en-US" dirty="0"/>
              <a:t>줄 가량의 </a:t>
            </a:r>
            <a:r>
              <a:rPr lang="en-US" altLang="ko-KR" dirty="0"/>
              <a:t>ASP.NET</a:t>
            </a:r>
            <a:r>
              <a:rPr lang="ko-KR" altLang="en-US" dirty="0"/>
              <a:t> 코드 분석과 </a:t>
            </a:r>
            <a:r>
              <a:rPr lang="en-US" altLang="ko-KR" dirty="0"/>
              <a:t>AWS </a:t>
            </a:r>
            <a:r>
              <a:rPr lang="ko-KR" altLang="en-US" dirty="0"/>
              <a:t>동작 원리 이해로 </a:t>
            </a:r>
            <a:r>
              <a:rPr lang="en-US" altLang="ko-KR" dirty="0"/>
              <a:t>Spring Boot </a:t>
            </a:r>
            <a:r>
              <a:rPr lang="ko-KR" altLang="en-US" dirty="0"/>
              <a:t>전환 시 도움</a:t>
            </a:r>
            <a:endParaRPr lang="en-US" altLang="ko-KR" dirty="0"/>
          </a:p>
          <a:p>
            <a:pPr lvl="2"/>
            <a:endParaRPr lang="ko-KR" alt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기타 </a:t>
            </a:r>
            <a:r>
              <a:rPr lang="en-US" altLang="ko-KR" dirty="0"/>
              <a:t>: JavaScript - React, asp, Kotlin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3BBCED1-B18E-E1AA-30D2-59C7FF3EA7D4}"/>
              </a:ext>
            </a:extLst>
          </p:cNvPr>
          <p:cNvSpPr txBox="1"/>
          <p:nvPr/>
        </p:nvSpPr>
        <p:spPr>
          <a:xfrm>
            <a:off x="1120556" y="1516357"/>
            <a:ext cx="689314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>
                <a:effectLst/>
              </a:rPr>
              <a:t>Java</a:t>
            </a:r>
            <a:r>
              <a:rPr lang="en-US" altLang="ko-KR" sz="2400" dirty="0">
                <a:effectLst/>
              </a:rPr>
              <a:t> - Android, Spring Boot | </a:t>
            </a:r>
            <a:r>
              <a:rPr lang="en-US" altLang="ko-KR" sz="2400" b="1" dirty="0">
                <a:effectLst/>
              </a:rPr>
              <a:t>C#</a:t>
            </a:r>
            <a:r>
              <a:rPr lang="en-US" altLang="ko-KR" sz="2400" dirty="0">
                <a:effectLst/>
              </a:rPr>
              <a:t> - ASP.NET</a:t>
            </a:r>
            <a:endParaRPr lang="ko-KR" altLang="en-US" sz="2300" b="1" dirty="0"/>
          </a:p>
        </p:txBody>
      </p:sp>
      <p:pic>
        <p:nvPicPr>
          <p:cNvPr id="9" name="그래픽 8">
            <a:extLst>
              <a:ext uri="{FF2B5EF4-FFF2-40B4-BE49-F238E27FC236}">
                <a16:creationId xmlns:a16="http://schemas.microsoft.com/office/drawing/2014/main" id="{B5083F2C-C6E6-CF1C-1C8C-FFFC73370F3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2155465" y="3205508"/>
            <a:ext cx="1602254" cy="1440000"/>
          </a:xfrm>
          <a:prstGeom prst="rect">
            <a:avLst/>
          </a:prstGeom>
        </p:spPr>
      </p:pic>
      <p:pic>
        <p:nvPicPr>
          <p:cNvPr id="15" name="그래픽 14">
            <a:extLst>
              <a:ext uri="{FF2B5EF4-FFF2-40B4-BE49-F238E27FC236}">
                <a16:creationId xmlns:a16="http://schemas.microsoft.com/office/drawing/2014/main" id="{CDC77DD3-0C3C-213D-C1C6-46B5F139D80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11355600" y="4239376"/>
            <a:ext cx="1440000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D43A674D-C9DB-6C08-3ECB-0DF445E66AD7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44111" y="5322028"/>
            <a:ext cx="1440000" cy="1440000"/>
          </a:xfrm>
          <a:prstGeom prst="ellipse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A4A1537-5224-26C4-5153-3D10B46B4D08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Language &amp; Frameworks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C0AB7B82-C758-1272-A194-0AF609BAD0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2311A068-1DAE-89FD-951E-E06DD2E1135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9F69AAB6-3F5E-4174-C1C4-18B013E57CC6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EC2D790B-97DB-7390-113E-DB1036C81AC8}"/>
              </a:ext>
            </a:extLst>
          </p:cNvPr>
          <p:cNvSpPr/>
          <p:nvPr/>
        </p:nvSpPr>
        <p:spPr>
          <a:xfrm>
            <a:off x="11355600" y="1747189"/>
            <a:ext cx="2595420" cy="5078313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22293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275E3-0551-870C-47D3-4BD2B4E3B1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899076C7-FCF2-4063-BDFD-1F57C59F1720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B5C8863-8DDA-E9B2-148D-45F40B90E01C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</a:t>
            </a:r>
            <a:r>
              <a:rPr lang="en-US" altLang="ko-KR" sz="4000" b="1" dirty="0">
                <a:solidFill>
                  <a:srgbClr val="508D4E"/>
                </a:solidFill>
                <a:effectLst/>
              </a:rPr>
              <a:t>Infrastructure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495678D-B775-6B22-0395-6537D1588E9C}"/>
              </a:ext>
            </a:extLst>
          </p:cNvPr>
          <p:cNvSpPr txBox="1"/>
          <p:nvPr/>
        </p:nvSpPr>
        <p:spPr>
          <a:xfrm>
            <a:off x="1120555" y="2234046"/>
            <a:ext cx="10235045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Window Server (On-Premise, Cloud)</a:t>
            </a:r>
            <a:r>
              <a:rPr lang="en-US" altLang="ko-KR" dirty="0"/>
              <a:t>: Window Server </a:t>
            </a:r>
            <a:r>
              <a:rPr lang="ko-KR" altLang="en-US" dirty="0"/>
              <a:t>및 </a:t>
            </a:r>
            <a:r>
              <a:rPr lang="en-US" altLang="ko-KR" dirty="0"/>
              <a:t>IIS </a:t>
            </a:r>
            <a:r>
              <a:rPr lang="ko-KR" altLang="en-US" dirty="0"/>
              <a:t>운용 경험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서버 관리 및 보안 패치 적용을 통한 서버 유지 보수 업무 진행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구버전의 </a:t>
            </a:r>
            <a:r>
              <a:rPr lang="en-US" altLang="ko-KR" b="1" dirty="0">
                <a:effectLst/>
              </a:rPr>
              <a:t>Window Server (2002 R2)</a:t>
            </a:r>
            <a:r>
              <a:rPr lang="ko-KR" altLang="en-US" dirty="0"/>
              <a:t> 에서 </a:t>
            </a:r>
            <a:r>
              <a:rPr lang="ko-KR" altLang="en-US" b="1" dirty="0">
                <a:effectLst/>
              </a:rPr>
              <a:t>최근 버전의 </a:t>
            </a:r>
            <a:r>
              <a:rPr lang="en-US" altLang="ko-KR" b="1" dirty="0">
                <a:effectLst/>
              </a:rPr>
              <a:t>Window Server(2016)</a:t>
            </a:r>
            <a:r>
              <a:rPr lang="ko-KR" altLang="en-US" dirty="0">
                <a:effectLst/>
              </a:rPr>
              <a:t>으</a:t>
            </a:r>
            <a:r>
              <a:rPr lang="ko-KR" altLang="en-US" dirty="0"/>
              <a:t>로</a:t>
            </a:r>
            <a:br>
              <a:rPr lang="en-US" altLang="ko-KR" dirty="0"/>
            </a:br>
            <a:r>
              <a:rPr lang="ko-KR" altLang="en-US" b="1" dirty="0"/>
              <a:t>이전 작업 프로젝트</a:t>
            </a:r>
            <a:r>
              <a:rPr lang="ko-KR" altLang="en-US" dirty="0"/>
              <a:t> 경험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>
                <a:effectLst/>
              </a:rPr>
              <a:t>Linux (Cloud)</a:t>
            </a:r>
            <a:r>
              <a:rPr lang="en-US" altLang="ko-KR" dirty="0"/>
              <a:t>: </a:t>
            </a:r>
            <a:r>
              <a:rPr lang="ko-KR" altLang="en-US" dirty="0"/>
              <a:t>리눅스의 기본 명령어 사용 및 리눅스 기본 트리 구조 및 파일 시스템에 대한 이해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 err="1"/>
              <a:t>NginX</a:t>
            </a:r>
            <a:r>
              <a:rPr lang="ko-KR" altLang="en-US" b="1" dirty="0"/>
              <a:t>를 통한 </a:t>
            </a:r>
            <a:r>
              <a:rPr lang="en-US" altLang="ko-KR" b="1" dirty="0"/>
              <a:t>Frontend Web Server </a:t>
            </a:r>
            <a:r>
              <a:rPr lang="ko-KR" altLang="en-US" b="1" dirty="0"/>
              <a:t>구동</a:t>
            </a:r>
            <a:r>
              <a:rPr lang="ko-KR" altLang="en-US" dirty="0"/>
              <a:t> 가능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AWS(Cloud)</a:t>
            </a:r>
            <a:r>
              <a:rPr lang="en-US" altLang="ko-KR" dirty="0"/>
              <a:t>: VPC</a:t>
            </a:r>
            <a:r>
              <a:rPr lang="ko-KR" altLang="en-US" dirty="0"/>
              <a:t>를 시작으로 전반적인 서버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라우팅 테이블과 인터넷 게이트웨이를 이용한 </a:t>
            </a:r>
            <a:r>
              <a:rPr lang="en-US" altLang="ko-KR" dirty="0"/>
              <a:t>EC2 </a:t>
            </a:r>
            <a:r>
              <a:rPr lang="ko-KR" altLang="en-US" dirty="0"/>
              <a:t>인스턴스의 외부 통신</a:t>
            </a:r>
            <a:r>
              <a:rPr lang="en-US" altLang="ko-KR" dirty="0"/>
              <a:t> </a:t>
            </a:r>
            <a:r>
              <a:rPr lang="ko-KR" altLang="en-US" dirty="0"/>
              <a:t>구조 설계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ACM, ALB</a:t>
            </a:r>
            <a:r>
              <a:rPr lang="ko-KR" altLang="en-US" dirty="0"/>
              <a:t>를 사용한 </a:t>
            </a:r>
            <a:r>
              <a:rPr lang="en-US" altLang="ko-KR" b="1" dirty="0"/>
              <a:t>https</a:t>
            </a:r>
            <a:r>
              <a:rPr lang="en-US" altLang="ko-KR" dirty="0"/>
              <a:t> </a:t>
            </a:r>
            <a:r>
              <a:rPr lang="ko-KR" altLang="en-US" dirty="0"/>
              <a:t>적용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b="1" dirty="0"/>
              <a:t>Cloud Watch</a:t>
            </a:r>
            <a:r>
              <a:rPr lang="ko-KR" altLang="en-US" dirty="0"/>
              <a:t> 기반 서버 로그 수집 및 모니터링 환경 구성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RDS </a:t>
            </a:r>
            <a:r>
              <a:rPr lang="ko-KR" altLang="en-US" dirty="0"/>
              <a:t>보안을 위한 </a:t>
            </a:r>
            <a:r>
              <a:rPr lang="en-US" altLang="ko-KR" b="1" dirty="0"/>
              <a:t>private subnet </a:t>
            </a:r>
            <a:r>
              <a:rPr lang="ko-KR" altLang="en-US" dirty="0"/>
              <a:t>및</a:t>
            </a:r>
            <a:r>
              <a:rPr lang="ko-KR" altLang="en-US" b="1" dirty="0"/>
              <a:t> </a:t>
            </a:r>
            <a:r>
              <a:rPr lang="en-US" altLang="ko-KR" b="1" dirty="0"/>
              <a:t>Bastion </a:t>
            </a:r>
            <a:r>
              <a:rPr lang="ko-KR" altLang="en-US" b="1" dirty="0"/>
              <a:t>호스트 </a:t>
            </a:r>
            <a:r>
              <a:rPr lang="ko-KR" altLang="en-US" dirty="0"/>
              <a:t>구성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76D3D8-E01F-CB70-7737-4ACA3C0A3965}"/>
              </a:ext>
            </a:extLst>
          </p:cNvPr>
          <p:cNvSpPr txBox="1"/>
          <p:nvPr/>
        </p:nvSpPr>
        <p:spPr>
          <a:xfrm>
            <a:off x="1120555" y="1516357"/>
            <a:ext cx="818293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On-Premise</a:t>
            </a:r>
            <a:r>
              <a:rPr lang="en-US" altLang="ko-KR" sz="2400" dirty="0"/>
              <a:t>(Window Server, Linux), </a:t>
            </a:r>
            <a:r>
              <a:rPr lang="en-US" altLang="ko-KR" sz="2400" b="1" dirty="0"/>
              <a:t>Cloud</a:t>
            </a:r>
            <a:r>
              <a:rPr lang="en-US" altLang="ko-KR" sz="2400" dirty="0"/>
              <a:t>(AWS)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6D00FE6-FD15-46B6-DF1C-9C6AC81AF5B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7CDFA16A-4A7B-1078-05BC-137712355066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7E2D490-7F2E-130E-B5F2-D235E2BE85E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래픽 9">
            <a:extLst>
              <a:ext uri="{FF2B5EF4-FFF2-40B4-BE49-F238E27FC236}">
                <a16:creationId xmlns:a16="http://schemas.microsoft.com/office/drawing/2014/main" id="{F4F07477-097D-B925-88B2-4F190A09479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0856340" y="2182719"/>
            <a:ext cx="1440000" cy="1440000"/>
          </a:xfrm>
          <a:prstGeom prst="rect">
            <a:avLst/>
          </a:prstGeom>
        </p:spPr>
      </p:pic>
      <p:pic>
        <p:nvPicPr>
          <p:cNvPr id="12" name="그래픽 11">
            <a:extLst>
              <a:ext uri="{FF2B5EF4-FFF2-40B4-BE49-F238E27FC236}">
                <a16:creationId xmlns:a16="http://schemas.microsoft.com/office/drawing/2014/main" id="{62C19053-29C7-C29C-EAAC-298FD2C140A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2102660" y="3457575"/>
            <a:ext cx="1215000" cy="1440000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37EDEBB0-110F-5BEE-8598-EF5AA1BA48AC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7945" y="5087486"/>
            <a:ext cx="2401564" cy="1440000"/>
          </a:xfrm>
          <a:prstGeom prst="rect">
            <a:avLst/>
          </a:prstGeom>
        </p:spPr>
      </p:pic>
      <p:sp>
        <p:nvSpPr>
          <p:cNvPr id="24" name="직사각형 23">
            <a:extLst>
              <a:ext uri="{FF2B5EF4-FFF2-40B4-BE49-F238E27FC236}">
                <a16:creationId xmlns:a16="http://schemas.microsoft.com/office/drawing/2014/main" id="{89D6B141-95E2-7D3A-C6DE-26634C91603C}"/>
              </a:ext>
            </a:extLst>
          </p:cNvPr>
          <p:cNvSpPr/>
          <p:nvPr/>
        </p:nvSpPr>
        <p:spPr>
          <a:xfrm>
            <a:off x="10515600" y="1680048"/>
            <a:ext cx="2971800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0030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7986A6-E972-B946-50CC-0AF042CE61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>
            <a:extLst>
              <a:ext uri="{FF2B5EF4-FFF2-40B4-BE49-F238E27FC236}">
                <a16:creationId xmlns:a16="http://schemas.microsoft.com/office/drawing/2014/main" id="{1BB06F78-D879-EE52-BF9D-33B0C9257553}"/>
              </a:ext>
            </a:extLst>
          </p:cNvPr>
          <p:cNvSpPr/>
          <p:nvPr/>
        </p:nvSpPr>
        <p:spPr>
          <a:xfrm>
            <a:off x="1140380" y="1443631"/>
            <a:ext cx="7893865" cy="619592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D3A03B-6F32-978D-C14E-D5779354EE97}"/>
              </a:ext>
            </a:extLst>
          </p:cNvPr>
          <p:cNvSpPr txBox="1"/>
          <p:nvPr/>
        </p:nvSpPr>
        <p:spPr>
          <a:xfrm>
            <a:off x="621792" y="564922"/>
            <a:ext cx="1208836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Skills / Databases </a:t>
            </a:r>
            <a:r>
              <a:rPr lang="ko-KR" altLang="en-US" sz="4000" b="1" dirty="0">
                <a:solidFill>
                  <a:srgbClr val="508D4E"/>
                </a:solidFill>
              </a:rPr>
              <a:t>및 기타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1DA4CFC-465C-15F4-496E-A66E61F9D8A9}"/>
              </a:ext>
            </a:extLst>
          </p:cNvPr>
          <p:cNvSpPr txBox="1"/>
          <p:nvPr/>
        </p:nvSpPr>
        <p:spPr>
          <a:xfrm>
            <a:off x="1120555" y="2234046"/>
            <a:ext cx="10235045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Oracle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PL/SQL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작성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유저 별 권한 부여 및 테이블 스페이스 할당을 통한 데이터베이스 생성 및 이용 가능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Trigger </a:t>
            </a:r>
            <a:r>
              <a:rPr lang="ko-KR" altLang="en-US" dirty="0"/>
              <a:t>및 </a:t>
            </a:r>
            <a:r>
              <a:rPr lang="en-US" altLang="ko-KR" dirty="0"/>
              <a:t>Scheduler </a:t>
            </a:r>
            <a:r>
              <a:rPr lang="ko-KR" altLang="en-US" dirty="0"/>
              <a:t>같은 </a:t>
            </a:r>
            <a:r>
              <a:rPr lang="en-US" altLang="ko-KR" dirty="0"/>
              <a:t>DBMS </a:t>
            </a:r>
            <a:r>
              <a:rPr lang="ko-KR" altLang="en-US" dirty="0"/>
              <a:t>기능 이용을 통한 다양한 비즈니스 로직 구상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en-US" altLang="ko-KR" dirty="0"/>
              <a:t>SQL Server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서버 이전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SQL Server</a:t>
            </a:r>
            <a:r>
              <a:rPr lang="en-US" altLang="ko-KR" dirty="0"/>
              <a:t>: SQL </a:t>
            </a:r>
            <a:r>
              <a:rPr lang="ko-KR" altLang="en-US" dirty="0"/>
              <a:t>작성 및 </a:t>
            </a:r>
            <a:r>
              <a:rPr lang="en-US" altLang="ko-KR" dirty="0"/>
              <a:t>T-SQL</a:t>
            </a:r>
            <a:r>
              <a:rPr lang="ko-KR" altLang="en-US" dirty="0"/>
              <a:t>을 통한 </a:t>
            </a:r>
            <a:r>
              <a:rPr lang="en-US" altLang="ko-KR" dirty="0"/>
              <a:t>Procedure </a:t>
            </a:r>
            <a:r>
              <a:rPr lang="ko-KR" altLang="en-US" dirty="0"/>
              <a:t>흐름 파악 및 유지 보수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데이터 파일 및 로그 파일 관리 및 </a:t>
            </a:r>
            <a:r>
              <a:rPr lang="en-US" altLang="ko-KR" dirty="0"/>
              <a:t>Scheduler</a:t>
            </a:r>
            <a:r>
              <a:rPr lang="ko-KR" altLang="en-US" dirty="0"/>
              <a:t>를 통한 주기적인 </a:t>
            </a:r>
            <a:r>
              <a:rPr lang="en-US" altLang="ko-KR" dirty="0"/>
              <a:t>DB </a:t>
            </a:r>
            <a:r>
              <a:rPr lang="ko-KR" altLang="en-US" dirty="0"/>
              <a:t>백업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b="1" dirty="0"/>
              <a:t>MySQL</a:t>
            </a:r>
            <a:r>
              <a:rPr lang="en-US" altLang="ko-KR" dirty="0"/>
              <a:t>: AWS RDS</a:t>
            </a:r>
            <a:r>
              <a:rPr lang="ko-KR" altLang="en-US" dirty="0"/>
              <a:t>를 통한 </a:t>
            </a:r>
            <a:r>
              <a:rPr lang="en-US" altLang="ko-KR" dirty="0"/>
              <a:t>MySQL </a:t>
            </a:r>
            <a:r>
              <a:rPr lang="ko-KR" altLang="en-US" dirty="0"/>
              <a:t>접근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 err="1"/>
              <a:t>쿼리문</a:t>
            </a:r>
            <a:r>
              <a:rPr lang="ko-KR" altLang="en-US" dirty="0"/>
              <a:t> 작성을 통한 </a:t>
            </a:r>
            <a:r>
              <a:rPr lang="en-US" altLang="ko-KR" dirty="0"/>
              <a:t>CRUD </a:t>
            </a:r>
            <a:r>
              <a:rPr lang="ko-KR" altLang="en-US" dirty="0"/>
              <a:t>및 인덱싱과 </a:t>
            </a:r>
            <a:r>
              <a:rPr lang="ko-KR" altLang="en-US" dirty="0" err="1"/>
              <a:t>쿼리문</a:t>
            </a:r>
            <a:r>
              <a:rPr lang="ko-KR" altLang="en-US" dirty="0"/>
              <a:t> 최적화를 통한 응답시간 감소 경험</a:t>
            </a:r>
            <a:r>
              <a:rPr lang="en-US" altLang="ko-KR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b="1" dirty="0"/>
              <a:t>기타</a:t>
            </a:r>
            <a:r>
              <a:rPr lang="en-US" altLang="ko-KR" dirty="0"/>
              <a:t>: Docker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Actions </a:t>
            </a:r>
            <a:r>
              <a:rPr lang="ko-KR" altLang="en-US" dirty="0"/>
              <a:t>을 활용한 </a:t>
            </a:r>
            <a:r>
              <a:rPr lang="en-US" altLang="ko-KR" dirty="0"/>
              <a:t>CI/CD </a:t>
            </a:r>
            <a:r>
              <a:rPr lang="ko-KR" altLang="en-US" dirty="0"/>
              <a:t>파이프라인 자동화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en-US" altLang="ko-KR" dirty="0"/>
              <a:t>Git </a:t>
            </a:r>
            <a:r>
              <a:rPr lang="ko-KR" altLang="en-US" dirty="0"/>
              <a:t>및 </a:t>
            </a:r>
            <a:r>
              <a:rPr lang="en-US" altLang="ko-KR" dirty="0" err="1"/>
              <a:t>Github</a:t>
            </a:r>
            <a:r>
              <a:rPr lang="en-US" altLang="ko-KR" dirty="0"/>
              <a:t> </a:t>
            </a:r>
            <a:r>
              <a:rPr lang="ko-KR" altLang="en-US" dirty="0"/>
              <a:t>를 사용한 코드 산출물 버전 관리</a:t>
            </a:r>
            <a:r>
              <a:rPr lang="en-US" altLang="ko-KR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DCC3845-16C1-F0A7-8178-9CEC9807ADB4}"/>
              </a:ext>
            </a:extLst>
          </p:cNvPr>
          <p:cNvSpPr txBox="1"/>
          <p:nvPr/>
        </p:nvSpPr>
        <p:spPr>
          <a:xfrm>
            <a:off x="1120555" y="1516357"/>
            <a:ext cx="71961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>
                <a:effectLst/>
              </a:rPr>
              <a:t>🛠️ </a:t>
            </a:r>
            <a:r>
              <a:rPr lang="en-US" altLang="ko-KR" sz="2400" b="1" dirty="0"/>
              <a:t>Oracle, SQL Server, MySQL / Docker, </a:t>
            </a:r>
            <a:r>
              <a:rPr lang="en-US" altLang="ko-KR" sz="2400" b="1" dirty="0" err="1"/>
              <a:t>Github</a:t>
            </a:r>
            <a:endParaRPr lang="ko-KR" altLang="en-US" sz="2300" b="1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4BE22A4-22A1-1765-6271-A57AEA15175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85C47515-FFC4-CB46-8FEB-31EF34D5E521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02617D8-CBFC-F3C5-B01A-448AAE21F3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986E3D7E-281E-2C29-383B-9C79A14276C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82016" y="1981689"/>
            <a:ext cx="1440000" cy="14400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5D84006A-89B9-261F-A04D-25A9C82DEC6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109105" y="2995857"/>
            <a:ext cx="1774286" cy="14400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53847500-500C-802D-89EE-FEBDAD19F7E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044231" y="4437582"/>
            <a:ext cx="2129748" cy="1440000"/>
          </a:xfrm>
          <a:prstGeom prst="rect">
            <a:avLst/>
          </a:prstGeom>
        </p:spPr>
      </p:pic>
      <p:pic>
        <p:nvPicPr>
          <p:cNvPr id="21" name="그래픽 20">
            <a:extLst>
              <a:ext uri="{FF2B5EF4-FFF2-40B4-BE49-F238E27FC236}">
                <a16:creationId xmlns:a16="http://schemas.microsoft.com/office/drawing/2014/main" id="{C95BF4C7-C8DB-470B-1A2F-36AD3101EB72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1430026" y="5594183"/>
            <a:ext cx="1823518" cy="1440000"/>
          </a:xfrm>
          <a:prstGeom prst="rect">
            <a:avLst/>
          </a:prstGeom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9913FDB6-5C1B-9EB2-3722-340040B8DBBB}"/>
              </a:ext>
            </a:extLst>
          </p:cNvPr>
          <p:cNvSpPr/>
          <p:nvPr/>
        </p:nvSpPr>
        <p:spPr>
          <a:xfrm>
            <a:off x="9889992" y="1680048"/>
            <a:ext cx="3457707" cy="5571652"/>
          </a:xfrm>
          <a:prstGeom prst="rect">
            <a:avLst/>
          </a:prstGeom>
          <a:solidFill>
            <a:schemeClr val="bg1">
              <a:alpha val="5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9706726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8798B73C-61D9-6273-6C07-408C28AC1B32}"/>
              </a:ext>
            </a:extLst>
          </p:cNvPr>
          <p:cNvSpPr txBox="1"/>
          <p:nvPr/>
        </p:nvSpPr>
        <p:spPr>
          <a:xfrm>
            <a:off x="621791" y="564922"/>
            <a:ext cx="301454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Bootcamps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8043F11-0B83-6810-B1FE-ACB6E0D1008E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>
                <a:effectLst/>
              </a:rPr>
              <a:t>SK Planet - T </a:t>
            </a:r>
            <a:r>
              <a:rPr lang="ko-KR" altLang="en-US" sz="2400" b="1" dirty="0">
                <a:effectLst/>
              </a:rPr>
              <a:t>아카데미 </a:t>
            </a:r>
            <a:r>
              <a:rPr lang="en-US" altLang="ko-KR" sz="2400" b="1" dirty="0">
                <a:effectLst/>
              </a:rPr>
              <a:t>ASAC </a:t>
            </a:r>
            <a:r>
              <a:rPr lang="ko-KR" altLang="en-US" sz="2400" b="1" dirty="0">
                <a:effectLst/>
              </a:rPr>
              <a:t>웹 </a:t>
            </a:r>
            <a:r>
              <a:rPr lang="ko-KR" altLang="en-US" sz="2400" b="1" dirty="0" err="1">
                <a:effectLst/>
              </a:rPr>
              <a:t>풀스택</a:t>
            </a:r>
            <a:r>
              <a:rPr lang="ko-KR" altLang="en-US" sz="2400" b="1" dirty="0">
                <a:effectLst/>
              </a:rPr>
              <a:t> </a:t>
            </a:r>
            <a:r>
              <a:rPr lang="en-US" altLang="ko-KR" sz="2400" b="1" dirty="0">
                <a:effectLst/>
              </a:rPr>
              <a:t>6</a:t>
            </a:r>
            <a:r>
              <a:rPr lang="ko-KR" altLang="en-US" sz="2400" b="1" dirty="0">
                <a:effectLst/>
              </a:rPr>
              <a:t>기 </a:t>
            </a:r>
            <a:endParaRPr lang="ko-KR" altLang="en-US" sz="24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A454BFB-BEF8-F0B6-014B-2AD7CC2EB59E}"/>
              </a:ext>
            </a:extLst>
          </p:cNvPr>
          <p:cNvSpPr txBox="1"/>
          <p:nvPr/>
        </p:nvSpPr>
        <p:spPr>
          <a:xfrm>
            <a:off x="1146968" y="16782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2024.08 ~ 2025.02 (0.5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📄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소개서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📗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강의자료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5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최종 프로젝트 자료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🧑🏻‍🏫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6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강사 이력서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00B819-EE4C-89F5-ABD7-1CB2289362FE}"/>
              </a:ext>
            </a:extLst>
          </p:cNvPr>
          <p:cNvSpPr txBox="1"/>
          <p:nvPr/>
        </p:nvSpPr>
        <p:spPr>
          <a:xfrm>
            <a:off x="1146968" y="1996778"/>
            <a:ext cx="12196892" cy="52014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Android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개발자에서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웹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백엔드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개발자 전환을 위해 웹 기초 및</a:t>
            </a:r>
            <a:r>
              <a:rPr lang="en-US" altLang="ko-KR" sz="2200" b="1" dirty="0"/>
              <a:t> FE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/</a:t>
            </a:r>
            <a:r>
              <a:rPr kumimoji="0" lang="en-US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BE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22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풀스택</a:t>
            </a:r>
            <a:r>
              <a:rPr kumimoji="0" lang="ko-KR" altLang="ko-KR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지식 함양</a:t>
            </a:r>
            <a:endParaRPr lang="en-US" altLang="ko-KR" sz="2200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기초 및 </a:t>
            </a:r>
            <a:r>
              <a:rPr kumimoji="0" lang="ko-KR" altLang="ko-KR" sz="20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아키텍팅과</a:t>
            </a:r>
            <a:r>
              <a:rPr kumimoji="0" lang="ko-KR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CI/CD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웹 브라우저와 웹 서버 및 AWS,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DNS와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SEO 및 웹 페이지 렌더링 패턴.</a:t>
            </a:r>
            <a:br>
              <a:rPr lang="en-US" altLang="ko-KR" dirty="0"/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사례 실습,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Github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Action을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CI/CD 구축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1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Frontend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JS ES6 문법 및 JS 엔진 동작 원리.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 및 타 프레임워크와의 차이.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React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서드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파티 라이브러리 실습 및 Next.js 원리 이해, 실습 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20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Backend</a:t>
            </a:r>
            <a:r>
              <a:rPr kumimoji="0" lang="ko-KR" altLang="ko-KR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Java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객체지향 프로그래밍 문법, 함수형 프로그래밍 확장 문법.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Boot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특장점과 연습.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AWS VPC 구성 및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Bastion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과 NAT 통한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Private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네트워크 내 EC2 구성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데이터베이스와 ERD, 인덱스 및 트랜잭션.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Data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JPA를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통한 DB 관리. 연관관계 맵핑 관련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어노테이션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실습 </a:t>
            </a:r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Security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동작 원리. 인증과 인가 차이 및 SSO, </a:t>
            </a:r>
            <a:r>
              <a:rPr kumimoji="0" lang="ko-KR" altLang="ko-KR" sz="1800" b="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OAuth</a:t>
            </a:r>
            <a:r>
              <a:rPr kumimoji="0" lang="ko-KR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원리. </a:t>
            </a:r>
            <a:endParaRPr lang="en-US" altLang="ko-KR" dirty="0"/>
          </a:p>
          <a:p>
            <a:pPr marL="742950" marR="0" lvl="1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ko-KR" altLang="ko-KR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4개월 학습 후 </a:t>
            </a:r>
            <a:r>
              <a:rPr kumimoji="0" lang="ko-KR" altLang="ko-KR" sz="1800" b="1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</a:rPr>
              <a:t>Spring으로</a:t>
            </a:r>
            <a:r>
              <a:rPr kumimoji="0" lang="ko-KR" altLang="ko-KR" sz="18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 외주 계약 프로젝트 개발, 실제 유저 기반 최종 납품 및 유지 보수 경험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CFA1288-41D5-75E9-409D-BDA1B776050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B0DCBA0F-D25E-D4FB-01D8-AA133876E33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323CE68-F2F8-ED0F-27DA-8083C367CF7D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06103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85583EC-9572-6A77-98E2-AF69D202F2F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Career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E60C94C-FFF3-7EC2-4A8F-397FD50C3C09}"/>
              </a:ext>
            </a:extLst>
          </p:cNvPr>
          <p:cNvSpPr txBox="1"/>
          <p:nvPr/>
        </p:nvSpPr>
        <p:spPr>
          <a:xfrm>
            <a:off x="1146969" y="1272808"/>
            <a:ext cx="59817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b="1" dirty="0"/>
              <a:t>서비스 사업 본부 연구 개발 </a:t>
            </a:r>
            <a:r>
              <a:rPr lang="en-US" altLang="ko-KR" sz="2400" b="1" dirty="0"/>
              <a:t>1</a:t>
            </a:r>
            <a:r>
              <a:rPr lang="ko-KR" altLang="en-US" sz="2400" b="1" dirty="0"/>
              <a:t>팀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26E5754-F934-DC4D-9F64-72EA97F2025E}"/>
              </a:ext>
            </a:extLst>
          </p:cNvPr>
          <p:cNvSpPr txBox="1"/>
          <p:nvPr/>
        </p:nvSpPr>
        <p:spPr>
          <a:xfrm>
            <a:off x="1146968" y="1703646"/>
            <a:ext cx="95591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🗓️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2020.01 ~ 2022.10 (2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년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10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개월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) | </a:t>
            </a:r>
            <a:r>
              <a:rPr lang="ko-KR" altLang="en-US" dirty="0">
                <a:solidFill>
                  <a:srgbClr val="0563C1"/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🏢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 회사 홈페이지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업력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25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  <a:effectLst/>
              </a:rPr>
              <a:t>년차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 중소기업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|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사원수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</a:rPr>
              <a:t>45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</a:rPr>
              <a:t>명</a:t>
            </a:r>
            <a:endParaRPr lang="ko-KR" altLang="en-US" dirty="0">
              <a:solidFill>
                <a:schemeClr val="bg1">
                  <a:lumMod val="65000"/>
                </a:schemeClr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7253DC5-FA28-976E-0527-9B4A17756E15}"/>
              </a:ext>
            </a:extLst>
          </p:cNvPr>
          <p:cNvSpPr txBox="1"/>
          <p:nvPr/>
        </p:nvSpPr>
        <p:spPr>
          <a:xfrm>
            <a:off x="1146968" y="2072978"/>
            <a:ext cx="10664032" cy="44319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ko-KR" altLang="en-US" sz="2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  <a:t>자사 안드로이드 앱 개발 및 유지보수</a:t>
            </a:r>
            <a:br>
              <a:rPr kumimoji="0" lang="en-US" altLang="ko-KR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</a:rPr>
            </a:b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KT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스마트폰 안심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  <a:effectLst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2.0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  <a:effectLst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파워백신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스마트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안심케어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 </a:t>
            </a:r>
            <a:r>
              <a:rPr lang="en-US" altLang="ko-KR" dirty="0">
                <a:solidFill>
                  <a:schemeClr val="bg1">
                    <a:lumMod val="65000"/>
                  </a:schemeClr>
                </a:solidFill>
              </a:rPr>
              <a:t>/ </a:t>
            </a:r>
            <a:r>
              <a:rPr lang="ko-KR" altLang="en-US" dirty="0" err="1">
                <a:solidFill>
                  <a:schemeClr val="bg1">
                    <a:lumMod val="65000"/>
                  </a:schemeClr>
                </a:solidFill>
              </a:rPr>
              <a:t>세이퍼</a:t>
            </a:r>
            <a:r>
              <a:rPr lang="ko-KR" altLang="en-US" dirty="0">
                <a:solidFill>
                  <a:schemeClr val="bg1">
                    <a:lumMod val="65000"/>
                  </a:schemeClr>
                </a:solidFill>
              </a:rPr>
              <a:t> 플러스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OS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별 업데이트 사항 확인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.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 사용이 중지되는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(deprecated)</a:t>
            </a:r>
            <a:r>
              <a:rPr lang="ko-KR" altLang="en-US" dirty="0"/>
              <a:t> 기능들에 대한 영향도 분석</a:t>
            </a:r>
            <a:r>
              <a:rPr lang="en-US" altLang="ko-KR" dirty="0"/>
              <a:t> </a:t>
            </a:r>
            <a:r>
              <a:rPr lang="ko-KR" altLang="en-US" dirty="0"/>
              <a:t>및 대응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외부 라이브러리를 통해 다른 회사화의 협업 및 앱 서비스 범위 증대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기존 기능 고도화 및 신규 기능 개발을 통해 지속적인 서비스 제공 노력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서버 이전 작업 진행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레거시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-&gt;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클라우드 서버 이전 및 이기종 간 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마이그레이션 진행</a:t>
            </a:r>
            <a:endParaRPr kumimoji="0" lang="en-US" altLang="ko-KR" sz="1800" b="0" i="0" u="none" strike="noStrike" cap="none" normalizeH="0" baseline="0" dirty="0">
              <a:ln>
                <a:noFill/>
              </a:ln>
              <a:effectLst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W</a:t>
            </a:r>
            <a:r>
              <a:rPr lang="en-US" altLang="ko-KR" dirty="0"/>
              <a:t>indow Server OS</a:t>
            </a:r>
            <a:r>
              <a:rPr lang="ko-KR" altLang="en-US" dirty="0"/>
              <a:t>에 </a:t>
            </a:r>
            <a:r>
              <a:rPr lang="en-US" altLang="ko-KR" dirty="0"/>
              <a:t>IIS</a:t>
            </a:r>
            <a:r>
              <a:rPr lang="ko-KR" altLang="en-US" dirty="0"/>
              <a:t>를 사용하는 </a:t>
            </a:r>
            <a:r>
              <a:rPr lang="en-US" altLang="ko-KR" dirty="0"/>
              <a:t>WAS </a:t>
            </a:r>
            <a:r>
              <a:rPr lang="ko-KR" altLang="en-US" dirty="0"/>
              <a:t>서버 환경 세팅 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DBMS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및 테이블 트리거</a:t>
            </a:r>
            <a:r>
              <a:rPr kumimoji="0" lang="en-US" altLang="ko-KR" sz="1800" b="0" i="0" u="none" strike="noStrike" cap="none" normalizeH="0" baseline="0" dirty="0">
                <a:ln>
                  <a:noFill/>
                </a:ln>
                <a:effectLst/>
              </a:rPr>
              <a:t>, </a:t>
            </a:r>
            <a:r>
              <a:rPr kumimoji="0" lang="ko-KR" altLang="en-US" sz="1800" b="0" i="0" u="none" strike="noStrike" cap="none" normalizeH="0" baseline="0" dirty="0">
                <a:ln>
                  <a:noFill/>
                </a:ln>
                <a:effectLst/>
              </a:rPr>
              <a:t>프로시저 및 데이터 이전 작업 </a:t>
            </a:r>
            <a:r>
              <a:rPr lang="ko-KR" altLang="en-US" dirty="0"/>
              <a:t>진행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기타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en-US" altLang="ko-KR" dirty="0"/>
              <a:t>ASP, ASP.NET</a:t>
            </a:r>
            <a:r>
              <a:rPr lang="ko-KR" altLang="en-US" dirty="0"/>
              <a:t>로 구성된 웹 서비스 유지보수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반기별 시행하는 모의 해킹 및 보안 점검 진행 후 취약점 보완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주기적인 모니터링을 통한 이슈 </a:t>
            </a:r>
            <a:r>
              <a:rPr lang="ko-KR" altLang="en-US" dirty="0" err="1"/>
              <a:t>트래킹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94F9071C-A4E1-2D2A-3513-E4D229C62135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" name="직사각형 2">
            <a:extLst>
              <a:ext uri="{FF2B5EF4-FFF2-40B4-BE49-F238E27FC236}">
                <a16:creationId xmlns:a16="http://schemas.microsoft.com/office/drawing/2014/main" id="{9C82BDA6-CC24-5864-912C-BC6F532B4E4B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B2CECEA-90D3-2CA3-48AA-ED92D1CEF9F9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5031209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1802A3-6543-0A73-AA3C-BAE20E379E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CA581E9-27A9-D3F5-6351-40729EF8E946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9F8789B-D60C-B69D-1043-94AB3429D23D}"/>
              </a:ext>
            </a:extLst>
          </p:cNvPr>
          <p:cNvSpPr txBox="1"/>
          <p:nvPr/>
        </p:nvSpPr>
        <p:spPr>
          <a:xfrm>
            <a:off x="1146968" y="1272808"/>
            <a:ext cx="81565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1. </a:t>
            </a:r>
            <a:r>
              <a:rPr lang="ko-KR" altLang="en-US" sz="2400" b="1" dirty="0"/>
              <a:t>안드로이드 </a:t>
            </a:r>
            <a:r>
              <a:rPr lang="en-US" altLang="ko-KR" sz="2400" b="1" dirty="0"/>
              <a:t>OS </a:t>
            </a:r>
            <a:r>
              <a:rPr lang="ko-KR" altLang="en-US" sz="2400" b="1" dirty="0"/>
              <a:t>업데이트에 따른 이슈 및 업데이트 대응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5B9D3B6-9799-027C-B9DF-C1F6B196A04F}"/>
              </a:ext>
            </a:extLst>
          </p:cNvPr>
          <p:cNvSpPr txBox="1"/>
          <p:nvPr/>
        </p:nvSpPr>
        <p:spPr>
          <a:xfrm>
            <a:off x="1146967" y="1734473"/>
            <a:ext cx="1213309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안드로이드 앱 </a:t>
            </a:r>
            <a:r>
              <a:rPr lang="en-US" altLang="ko-KR" dirty="0"/>
              <a:t>Google Play </a:t>
            </a:r>
            <a:r>
              <a:rPr lang="ko-KR" altLang="en-US" dirty="0"/>
              <a:t>신규 업로드 혹은 업데이트 시</a:t>
            </a:r>
            <a:r>
              <a:rPr lang="en-US" altLang="ko-KR" dirty="0"/>
              <a:t>, </a:t>
            </a:r>
            <a:r>
              <a:rPr lang="ko-KR" altLang="en-US" dirty="0"/>
              <a:t>구글에서 요청하는 앱 내부의 </a:t>
            </a:r>
            <a:r>
              <a:rPr lang="en-US" altLang="ko-KR" dirty="0"/>
              <a:t>Android </a:t>
            </a:r>
            <a:r>
              <a:rPr lang="ko-KR" altLang="en-US" dirty="0"/>
              <a:t>버전을 맞춰야 함</a:t>
            </a:r>
            <a:r>
              <a:rPr lang="en-US" altLang="ko-KR" dirty="0"/>
              <a:t>. (</a:t>
            </a:r>
            <a:r>
              <a:rPr lang="ko-KR" altLang="en-US" dirty="0">
                <a:effectLst/>
                <a:hlinkClick r:id="rId2"/>
              </a:rPr>
              <a:t>링크</a:t>
            </a:r>
            <a:r>
              <a:rPr lang="en-US" altLang="ko-KR" dirty="0"/>
              <a:t>)</a:t>
            </a:r>
            <a:br>
              <a:rPr lang="en-US" altLang="ko-KR" dirty="0"/>
            </a:br>
            <a:r>
              <a:rPr lang="ko-KR" altLang="en-US" dirty="0"/>
              <a:t>앱 업데이트 시 기존 라이브러리 사용 불가에 따른 코드 수정 및 신규 기능 추가에 대한 개발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버전 업데이트 시 안드로이드 </a:t>
            </a:r>
            <a:r>
              <a:rPr lang="en-US" altLang="ko-KR" dirty="0"/>
              <a:t>SDK </a:t>
            </a:r>
            <a:r>
              <a:rPr lang="ko-KR" altLang="en-US" dirty="0"/>
              <a:t>버전에 따른 라이브러리 이슈 사항 대응 필요</a:t>
            </a:r>
            <a:r>
              <a:rPr lang="en-US" altLang="ko-KR" dirty="0"/>
              <a:t>. </a:t>
            </a:r>
            <a:br>
              <a:rPr lang="en-US" altLang="ko-KR" dirty="0"/>
            </a:br>
            <a:r>
              <a:rPr lang="ko-KR" altLang="en-US" dirty="0"/>
              <a:t>미 업데이트 시 앱 스토어 노출 불가 이슈 발생으로 매 년 변경되는 요구 사항에 맞춰 업데이트를 진행 해야 함</a:t>
            </a:r>
            <a:endParaRPr lang="en-US" altLang="ko-KR" dirty="0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7FA2D19F-8398-2770-2FB4-C321170BEAD3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40B68F2-4A61-3729-364A-B7388C4C7717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54C001-9DE5-B853-6B53-4A9F9AD5D2C3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지속적인 </a:t>
            </a:r>
            <a:r>
              <a:rPr lang="en-US" altLang="ko-KR" dirty="0"/>
              <a:t>OS </a:t>
            </a:r>
            <a:r>
              <a:rPr lang="ko-KR" altLang="en-US" dirty="0"/>
              <a:t>업데이트 대응을 통해 </a:t>
            </a:r>
            <a:r>
              <a:rPr lang="en-US" altLang="ko-KR" dirty="0"/>
              <a:t>Google Play</a:t>
            </a:r>
            <a:r>
              <a:rPr lang="ko-KR" altLang="en-US" dirty="0"/>
              <a:t>에서 앱 서비스 진행</a:t>
            </a:r>
            <a:r>
              <a:rPr lang="en-US" altLang="ko-KR" dirty="0"/>
              <a:t>. </a:t>
            </a:r>
            <a:r>
              <a:rPr lang="ko-KR" altLang="en-US" dirty="0"/>
              <a:t>이를 통해 사용자 이탈 방지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구글의 모바일 정책 변경에 능동적으로 대응</a:t>
            </a:r>
            <a:r>
              <a:rPr lang="en-US" altLang="ko-KR" dirty="0"/>
              <a:t>. </a:t>
            </a:r>
            <a:r>
              <a:rPr lang="ko-KR" altLang="en-US" dirty="0"/>
              <a:t>이를 통해 서비스 운영 경험 및 앱 배포 역량 강화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공식 문서를 통해 정보를 취득하는 방법과 역량을 기르고</a:t>
            </a:r>
            <a:r>
              <a:rPr lang="en-US" altLang="ko-KR" dirty="0"/>
              <a:t>, </a:t>
            </a:r>
            <a:r>
              <a:rPr lang="ko-KR" altLang="en-US" dirty="0"/>
              <a:t>이를 통해 문제에 대한 대응 및 해결 능력 함양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자사 서비스 앱의 기능들에 대해 어떠한 </a:t>
            </a:r>
            <a:r>
              <a:rPr lang="en-US" altLang="ko-KR" dirty="0"/>
              <a:t>SDK API</a:t>
            </a:r>
            <a:r>
              <a:rPr lang="ko-KR" altLang="en-US" dirty="0"/>
              <a:t>를 사용하고</a:t>
            </a:r>
            <a:r>
              <a:rPr lang="en-US" altLang="ko-KR" dirty="0"/>
              <a:t>, </a:t>
            </a:r>
            <a:r>
              <a:rPr lang="ko-KR" altLang="en-US" dirty="0"/>
              <a:t>어떠한 로직으로 동작하는지 전반적인 프로세스 파악의 경험 및 추후 발생하는 이슈들에 대해 명확하고 빠른 처리가 가능한 역량 증대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ko-KR" altLang="en-US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204FD3C1-80D9-733A-AE46-3E47ADCEBACD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302C9B0-EAE9-1752-32A3-3E4D727B5D05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1CFA638-B6C3-E12D-53FA-D7193BAE7D1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F721B66-FBB0-82F1-600D-67FECB477FCF}"/>
              </a:ext>
            </a:extLst>
          </p:cNvPr>
          <p:cNvSpPr txBox="1"/>
          <p:nvPr/>
        </p:nvSpPr>
        <p:spPr>
          <a:xfrm>
            <a:off x="1147523" y="6804351"/>
            <a:ext cx="169137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j-ea"/>
                <a:ea typeface="+mj-ea"/>
                <a:cs typeface="+mn-cs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j-ea"/>
              <a:ea typeface="+mj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972174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83EEA4-7402-42B7-6E93-E522FFE4A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07583BA0-5616-B838-810E-A2D91E81C124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3AD4A63-2BC2-F5D5-1B07-EACEB4C11BE1}"/>
              </a:ext>
            </a:extLst>
          </p:cNvPr>
          <p:cNvSpPr txBox="1"/>
          <p:nvPr/>
        </p:nvSpPr>
        <p:spPr>
          <a:xfrm>
            <a:off x="1146968" y="1272808"/>
            <a:ext cx="83018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2. </a:t>
            </a:r>
            <a:r>
              <a:rPr lang="en-US" altLang="ko-KR" sz="2400" b="1" dirty="0" err="1"/>
              <a:t>Ahnlab</a:t>
            </a:r>
            <a:r>
              <a:rPr lang="ko-KR" altLang="en-US" sz="2400" b="1" dirty="0"/>
              <a:t>의 </a:t>
            </a:r>
            <a:r>
              <a:rPr lang="ko-KR" altLang="en-US" sz="2400" b="1" dirty="0" err="1"/>
              <a:t>백신툴을</a:t>
            </a:r>
            <a:r>
              <a:rPr lang="ko-KR" altLang="en-US" sz="2400" b="1" dirty="0"/>
              <a:t> 이용한 실시간 감시 기능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B17903C-8651-1C7B-B417-EE759E47D41C}"/>
              </a:ext>
            </a:extLst>
          </p:cNvPr>
          <p:cNvSpPr txBox="1"/>
          <p:nvPr/>
        </p:nvSpPr>
        <p:spPr>
          <a:xfrm>
            <a:off x="1146968" y="1734473"/>
            <a:ext cx="1138881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기존 검사 기능 프로세스는 앱에 들어가 검사를 진행 해야만 위협 사항을 발견하는 프로세스로 구성됨</a:t>
            </a:r>
            <a:r>
              <a:rPr lang="en-US" altLang="ko-KR" dirty="0"/>
              <a:t>. </a:t>
            </a:r>
            <a:r>
              <a:rPr lang="ko-KR" altLang="en-US" dirty="0"/>
              <a:t>늘어가는 모바일 앱 피해 사태와 비교 해 볼 때</a:t>
            </a:r>
            <a:r>
              <a:rPr lang="en-US" altLang="ko-KR" dirty="0"/>
              <a:t>, </a:t>
            </a:r>
            <a:r>
              <a:rPr lang="ko-KR" altLang="en-US" dirty="0"/>
              <a:t>완전한 보안 서비스 제공이 어렵다는 판단이 들어 추가 기능이 필요한 것으로 결론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기존 </a:t>
            </a:r>
            <a:r>
              <a:rPr lang="en-US" altLang="ko-KR" dirty="0" err="1"/>
              <a:t>Ahnlab</a:t>
            </a:r>
            <a:r>
              <a:rPr lang="ko-KR" altLang="en-US" dirty="0"/>
              <a:t>에서 구매하며 사용하던 라이브러리</a:t>
            </a:r>
            <a:r>
              <a:rPr lang="en-US" altLang="ko-KR" dirty="0"/>
              <a:t>(MSDK)</a:t>
            </a:r>
            <a:r>
              <a:rPr lang="ko-KR" altLang="en-US" dirty="0"/>
              <a:t> 확인 결과</a:t>
            </a:r>
            <a:r>
              <a:rPr lang="en-US" altLang="ko-KR" dirty="0"/>
              <a:t>, </a:t>
            </a:r>
            <a:r>
              <a:rPr lang="ko-KR" altLang="en-US" dirty="0"/>
              <a:t>시간을 많이 들이지 않더라도 기능을 개발할 수 있음이 확인되어 고도화를 통해 앱 신규 기능 개발을 진행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C1638BDE-B03B-948D-840A-274508440A12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9167F0B-A09A-9E3B-15C6-EF68E8F013A5}"/>
              </a:ext>
            </a:extLst>
          </p:cNvPr>
          <p:cNvSpPr txBox="1"/>
          <p:nvPr/>
        </p:nvSpPr>
        <p:spPr>
          <a:xfrm>
            <a:off x="1120555" y="3007528"/>
            <a:ext cx="92553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Android Studio, Java, Android(Android </a:t>
            </a:r>
            <a:r>
              <a:rPr lang="en-US" altLang="ko-KR" b="1" dirty="0" err="1">
                <a:effectLst/>
              </a:rPr>
              <a:t>BroadCast</a:t>
            </a:r>
            <a:r>
              <a:rPr lang="en-US" altLang="ko-KR" b="1" dirty="0">
                <a:effectLst/>
              </a:rPr>
              <a:t>), MSDK(</a:t>
            </a:r>
            <a:r>
              <a:rPr lang="ko-KR" altLang="en-US" b="1" dirty="0" err="1">
                <a:effectLst/>
              </a:rPr>
              <a:t>안랩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Mobile SDK)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615035F-4512-45C9-B716-E85DFA14130B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기존의 수동 검사 방식에서 벗어나 실시간으로 앱 설치 시 위협 여부 탐지 기능 제공</a:t>
            </a:r>
            <a:r>
              <a:rPr lang="en-US" altLang="ko-KR" dirty="0"/>
              <a:t>. </a:t>
            </a:r>
            <a:r>
              <a:rPr lang="ko-KR" altLang="en-US" dirty="0"/>
              <a:t>사용자의 개입 없이 자동으로 보안 기능이 실행되며 이를 통한 편의성 및 보안성 향상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Google Play </a:t>
            </a:r>
            <a:r>
              <a:rPr lang="ko-KR" altLang="en-US" dirty="0"/>
              <a:t>에 등록된 앱 뿐만이 아닌 </a:t>
            </a:r>
            <a:r>
              <a:rPr lang="en-US" altLang="ko-KR" dirty="0"/>
              <a:t>.</a:t>
            </a:r>
            <a:r>
              <a:rPr lang="en-US" altLang="ko-KR" dirty="0" err="1"/>
              <a:t>apk</a:t>
            </a:r>
            <a:r>
              <a:rPr lang="en-US" altLang="ko-KR" dirty="0"/>
              <a:t> </a:t>
            </a:r>
            <a:r>
              <a:rPr lang="ko-KR" altLang="en-US" dirty="0"/>
              <a:t>파일을 통한 앱 설치까지 감지 가능하며 보안 위협 대응력 강화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처음으로 사용자의 입장에서 어떠한 기능이 필요한 지 생각 해 보며</a:t>
            </a:r>
            <a:r>
              <a:rPr lang="en-US" altLang="ko-KR" dirty="0"/>
              <a:t> </a:t>
            </a:r>
            <a:r>
              <a:rPr lang="ko-KR" altLang="en-US" dirty="0"/>
              <a:t>이를 통해 어떠한 기능이 가장 효율적이며 사용자에게 필요한지</a:t>
            </a:r>
            <a:r>
              <a:rPr lang="en-US" altLang="ko-KR" dirty="0"/>
              <a:t>, </a:t>
            </a:r>
            <a:r>
              <a:rPr lang="ko-KR" altLang="en-US" dirty="0"/>
              <a:t>어떤 개발을 해야 최소한의 시간으로 최대한의 성과를 이룰 수 있는지 고민하며 개발을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endParaRPr lang="en-US" altLang="ko-KR" dirty="0"/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F12E9FB-909D-13F3-D27D-0603B450898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DE3B61D-92B8-F41E-7900-757E87B7F0D7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D581D6F-9A71-28FB-04A5-7ED6EC6BC50E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63D47ED-113B-EB16-B8B3-66D1B696474A}"/>
              </a:ext>
            </a:extLst>
          </p:cNvPr>
          <p:cNvSpPr txBox="1"/>
          <p:nvPr/>
        </p:nvSpPr>
        <p:spPr>
          <a:xfrm>
            <a:off x="1147522" y="6804351"/>
            <a:ext cx="1489351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00720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Projects / </a:t>
            </a:r>
            <a:r>
              <a:rPr kumimoji="0" lang="ko-KR" altLang="en-US" sz="4000" b="1" i="0" u="none" strike="noStrike" kern="1200" cap="none" spc="0" normalizeH="0" baseline="0" noProof="0" dirty="0" err="1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윈즈</a:t>
            </a:r>
            <a:r>
              <a:rPr kumimoji="0" lang="ko-KR" altLang="en-US" sz="40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7" y="1272808"/>
            <a:ext cx="107614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3. 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모바일 원격 </a:t>
            </a:r>
            <a:r>
              <a:rPr kumimoji="0" lang="ko-KR" altLang="en-US" sz="2400" b="1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점검툴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 그리기 기능 개발 및 삼성 </a:t>
            </a:r>
            <a:r>
              <a:rPr kumimoji="0" lang="en-US" altLang="ko-KR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KNOX</a:t>
            </a:r>
            <a:r>
              <a:rPr kumimoji="0" lang="ko-KR" alt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사용한 터치 기능 고도화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08047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OS 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업데이트 흐름이 하드웨어 제어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가 제한되는 추세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이에 따라 앱의 기능들이 점점 사용할 수 없게 되어가는 상황에서 서비스 유지를 위해 기능 고도화 필요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Google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의 안드로이드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SDK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넘어선 외부 </a:t>
            </a:r>
            <a:r>
              <a:rPr kumimoji="0" lang="en-US" altLang="ko-KR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API</a:t>
            </a:r>
            <a:r>
              <a:rPr kumimoji="0" lang="ko-KR" alt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를 활용하여 기존 기능의 고도화 및 서비스 유지를 목표로 하는 프로젝트 진행</a:t>
            </a: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ko-KR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ea typeface="SUIT Variable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74138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1800" b="1" dirty="0">
                <a:effectLst/>
              </a:rPr>
              <a:t>🛠️</a:t>
            </a:r>
            <a:r>
              <a:rPr kumimoji="0" lang="ko-KR" alt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ea typeface="SUIT Variable"/>
                <a:cs typeface="+mn-cs"/>
              </a:rPr>
              <a:t> </a:t>
            </a:r>
            <a:r>
              <a:rPr kumimoji="0" lang="en-US" altLang="ko-KR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Android Studio, Java, Android</a:t>
            </a:r>
            <a:endParaRPr kumimoji="0" lang="ko-KR" altLang="en-US" sz="18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7" y="3469193"/>
            <a:ext cx="11335655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성과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미리 입력 해 놓은 터치 이벤트만 실행하는 기존의 제한적인 기능에서 상담사의 터치 이벤트를 완벽 구현하도록 개발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Android SDK</a:t>
            </a:r>
            <a:r>
              <a:rPr lang="ko-KR" altLang="en-US" dirty="0"/>
              <a:t>만으로는 불가능한 기능을 외부 플랫폼 활용으로 극복</a:t>
            </a:r>
            <a:r>
              <a:rPr lang="en-US" altLang="ko-KR" dirty="0"/>
              <a:t>. </a:t>
            </a:r>
            <a:r>
              <a:rPr lang="ko-KR" altLang="en-US" dirty="0"/>
              <a:t>삼성 단말 대상 기능을 고도화 하여 국내 점유율이 높은 갤럭시 기반 앱 기능성을 강화</a:t>
            </a:r>
            <a:r>
              <a:rPr lang="en-US" altLang="ko-KR" dirty="0"/>
              <a:t>. </a:t>
            </a:r>
            <a:r>
              <a:rPr lang="ko-KR" altLang="en-US" dirty="0"/>
              <a:t>또한 해당 </a:t>
            </a:r>
            <a:r>
              <a:rPr lang="en-US" altLang="ko-KR" dirty="0"/>
              <a:t>API</a:t>
            </a:r>
            <a:r>
              <a:rPr lang="ko-KR" altLang="en-US" dirty="0"/>
              <a:t> 향후 활용을 위한 기반 확보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altLang="ko-KR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ea typeface="SUIT Variable"/>
              <a:cs typeface="+mn-cs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+mn-ea"/>
                <a:cs typeface="+mn-cs"/>
              </a:rPr>
              <a:t>인사이트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+mn-ea"/>
              <a:cs typeface="+mn-cs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대기업에서 만든 라이브러리 사용 및 공식 문서를 통해 어떻게 개발을 진행해야 하는지에 대한 경험</a:t>
            </a:r>
            <a:r>
              <a:rPr lang="en-US" altLang="ko-KR" dirty="0"/>
              <a:t>. </a:t>
            </a:r>
            <a:r>
              <a:rPr lang="ko-KR" altLang="en-US" dirty="0"/>
              <a:t>막연한 두려움 보다</a:t>
            </a:r>
            <a:r>
              <a:rPr lang="en-US" altLang="ko-KR" dirty="0"/>
              <a:t>, </a:t>
            </a:r>
            <a:r>
              <a:rPr lang="ko-KR" altLang="en-US" dirty="0"/>
              <a:t>자료조사 → 분석 → 구현을 통한 체계적인 개발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다른 사람이 할 수 있으면 나도 할 수 있다는 자신감을 함양</a:t>
            </a:r>
            <a:r>
              <a:rPr lang="en-US" altLang="ko-KR" dirty="0"/>
              <a:t>. </a:t>
            </a:r>
            <a:r>
              <a:rPr lang="ko-KR" altLang="en-US" dirty="0"/>
              <a:t>기술적 제약 환경에서도 문제 해결을 위한 다양한 접근 방식을 습득하고</a:t>
            </a:r>
            <a:r>
              <a:rPr lang="en-US" altLang="ko-KR" dirty="0"/>
              <a:t>, </a:t>
            </a:r>
            <a:r>
              <a:rPr lang="ko-KR" altLang="en-US" dirty="0"/>
              <a:t>안된다는 불안감 보단 구현 가능을 생각하며 조사하는 자세를 통해 개발 역량 증대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5281449-081E-0BAD-7E4E-3C52BDAB9BEF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4E0BDBA-3415-FD76-F0BD-4BE95D4C1562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CC5A836E-214F-958C-B8DB-1811E632B5EC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CF4EFA6-7296-ADE7-007B-CE0D15FAEC1E}"/>
              </a:ext>
            </a:extLst>
          </p:cNvPr>
          <p:cNvSpPr txBox="1"/>
          <p:nvPr/>
        </p:nvSpPr>
        <p:spPr>
          <a:xfrm>
            <a:off x="1147523" y="6804351"/>
            <a:ext cx="139365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3424945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9A33C7-B939-E852-7E92-64AC1B3DA2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93B77123-1149-21F2-28BC-3236CDBFA25C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>
                <a:solidFill>
                  <a:srgbClr val="508D4E"/>
                </a:solidFill>
              </a:rPr>
              <a:t>Projects / </a:t>
            </a:r>
            <a:r>
              <a:rPr lang="ko-KR" altLang="en-US" sz="4000" b="1" dirty="0" err="1">
                <a:solidFill>
                  <a:srgbClr val="508D4E"/>
                </a:solidFill>
              </a:rPr>
              <a:t>윈즈</a:t>
            </a:r>
            <a:r>
              <a:rPr lang="ko-KR" altLang="en-US" sz="4000" b="1" dirty="0">
                <a:solidFill>
                  <a:srgbClr val="508D4E"/>
                </a:solidFill>
              </a:rPr>
              <a:t> 시스템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C02A834-9E7E-AF9B-60C7-5B5BCA18EDEE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4. Legacy &gt; Cloud </a:t>
            </a:r>
            <a:r>
              <a:rPr lang="ko-KR" altLang="en-US" sz="2400" b="1" dirty="0"/>
              <a:t>서버 이전 및 </a:t>
            </a:r>
            <a:r>
              <a:rPr lang="en-US" altLang="ko-KR" sz="2400" b="1" dirty="0"/>
              <a:t>DB </a:t>
            </a:r>
            <a:r>
              <a:rPr lang="ko-KR" altLang="en-US" sz="2400" b="1" dirty="0"/>
              <a:t>이기종간 </a:t>
            </a:r>
            <a:r>
              <a:rPr lang="en-US" altLang="ko-KR" sz="2400" b="1" dirty="0"/>
              <a:t>Migration </a:t>
            </a:r>
            <a:r>
              <a:rPr lang="ko-KR" altLang="en-US" sz="2400" b="1" dirty="0"/>
              <a:t>진행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D825C18-D4DE-7A85-0904-A8E94AED404E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노후화 된 </a:t>
            </a:r>
            <a:r>
              <a:rPr lang="en-US" altLang="ko-KR" dirty="0"/>
              <a:t>Legacy </a:t>
            </a:r>
            <a:r>
              <a:rPr lang="ko-KR" altLang="en-US" dirty="0"/>
              <a:t>서버 장비의 폐기를 위한 </a:t>
            </a:r>
            <a:r>
              <a:rPr lang="ko-KR" altLang="en-US" dirty="0" err="1"/>
              <a:t>원청</a:t>
            </a:r>
            <a:r>
              <a:rPr lang="ko-KR" altLang="en-US" dirty="0"/>
              <a:t> 업체의 요청으로 서버 이전 작업 진행이 필요</a:t>
            </a:r>
            <a:r>
              <a:rPr lang="en-US" altLang="ko-KR" dirty="0"/>
              <a:t>.</a:t>
            </a:r>
            <a:br>
              <a:rPr lang="en-US" altLang="ko-KR" dirty="0"/>
            </a:br>
            <a:r>
              <a:rPr lang="ko-KR" altLang="en-US" dirty="0"/>
              <a:t>일반 서버 환경에서 </a:t>
            </a:r>
            <a:r>
              <a:rPr lang="en-US" altLang="ko-KR" dirty="0"/>
              <a:t>Cloud </a:t>
            </a:r>
            <a:r>
              <a:rPr lang="ko-KR" altLang="en-US" dirty="0"/>
              <a:t>서버 환경으로의 웹 및 파일 서버 이전 진행</a:t>
            </a:r>
            <a:r>
              <a:rPr lang="en-US" altLang="ko-KR" dirty="0"/>
              <a:t>. Cloud </a:t>
            </a:r>
            <a:r>
              <a:rPr lang="ko-KR" altLang="en-US" dirty="0"/>
              <a:t>서버의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업체에서 운영하는 </a:t>
            </a:r>
            <a:r>
              <a:rPr lang="en-US" altLang="ko-KR" dirty="0"/>
              <a:t>Cloud </a:t>
            </a:r>
            <a:r>
              <a:rPr lang="ko-KR" altLang="en-US" dirty="0"/>
              <a:t>서비스인 </a:t>
            </a:r>
            <a:r>
              <a:rPr lang="en-US" altLang="ko-KR" dirty="0"/>
              <a:t>IaaS </a:t>
            </a:r>
            <a:r>
              <a:rPr lang="ko-KR" altLang="en-US" dirty="0"/>
              <a:t>환경으로 전입</a:t>
            </a:r>
            <a:r>
              <a:rPr lang="en-US" altLang="ko-KR" dirty="0"/>
              <a:t>. DB</a:t>
            </a:r>
            <a:r>
              <a:rPr lang="ko-KR" altLang="en-US" dirty="0"/>
              <a:t>의 경우 </a:t>
            </a:r>
            <a:r>
              <a:rPr lang="ko-KR" altLang="en-US" dirty="0" err="1"/>
              <a:t>원청</a:t>
            </a:r>
            <a:r>
              <a:rPr lang="ko-KR" altLang="en-US" dirty="0"/>
              <a:t> 업체의 라이선스 만기 이슈로 인해 </a:t>
            </a:r>
            <a:r>
              <a:rPr lang="en-US" altLang="ko-KR" dirty="0"/>
              <a:t>SQL Server(MSSQL) </a:t>
            </a:r>
            <a:r>
              <a:rPr lang="ko-KR" altLang="en-US" dirty="0"/>
              <a:t>에서 </a:t>
            </a:r>
            <a:r>
              <a:rPr lang="en-US" altLang="ko-KR" dirty="0"/>
              <a:t>Oracle</a:t>
            </a:r>
            <a:r>
              <a:rPr lang="ko-KR" altLang="en-US" dirty="0"/>
              <a:t>로의 </a:t>
            </a:r>
            <a:r>
              <a:rPr lang="en-US" altLang="ko-KR" dirty="0"/>
              <a:t>Migration </a:t>
            </a:r>
            <a:r>
              <a:rPr lang="ko-KR" altLang="en-US" dirty="0"/>
              <a:t>진행 필요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0FA6FB4-6603-7602-A99D-2A080CBEACA1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1CD453D-CA35-8208-8295-18A52B65134D}"/>
              </a:ext>
            </a:extLst>
          </p:cNvPr>
          <p:cNvSpPr txBox="1"/>
          <p:nvPr/>
        </p:nvSpPr>
        <p:spPr>
          <a:xfrm>
            <a:off x="1120555" y="3007528"/>
            <a:ext cx="100290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</a:rPr>
              <a:t>ASP, ASP.NET, C#, </a:t>
            </a:r>
            <a:r>
              <a:rPr lang="en-US" altLang="ko-KR" b="1" dirty="0" err="1">
                <a:effectLst/>
              </a:rPr>
              <a:t>Javascript</a:t>
            </a:r>
            <a:r>
              <a:rPr lang="en-US" altLang="ko-KR" b="1" dirty="0">
                <a:effectLst/>
              </a:rPr>
              <a:t>, html, SQL Server, Oracle, Window Server, IIS</a:t>
            </a:r>
            <a:endParaRPr lang="ko-KR" altLang="en-US" b="1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3A745E-A442-1B75-0AE2-C7BD4734F127}"/>
              </a:ext>
            </a:extLst>
          </p:cNvPr>
          <p:cNvSpPr txBox="1"/>
          <p:nvPr/>
        </p:nvSpPr>
        <p:spPr>
          <a:xfrm>
            <a:off x="1146968" y="3469193"/>
            <a:ext cx="11235532" cy="298543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 </a:t>
            </a:r>
            <a:r>
              <a:rPr lang="en-US" altLang="ko-KR" dirty="0"/>
              <a:t>OS </a:t>
            </a:r>
            <a:r>
              <a:rPr lang="ko-KR" altLang="en-US" dirty="0"/>
              <a:t>업데이트를 통해 기존 </a:t>
            </a:r>
            <a:r>
              <a:rPr lang="en-US" altLang="ko-KR" dirty="0"/>
              <a:t>Legacy </a:t>
            </a:r>
            <a:r>
              <a:rPr lang="ko-KR" altLang="en-US" dirty="0"/>
              <a:t>서버의 보안 이슈 사항 해결 및 사용자 데이터가 </a:t>
            </a:r>
            <a:r>
              <a:rPr lang="en-US" altLang="ko-KR" dirty="0"/>
              <a:t>DMZ</a:t>
            </a:r>
            <a:r>
              <a:rPr lang="ko-KR" altLang="en-US" dirty="0"/>
              <a:t>존으로 이관 되며 데이터 보호 수준 향상</a:t>
            </a:r>
            <a:r>
              <a:rPr lang="en-US" altLang="ko-KR" dirty="0"/>
              <a:t>. </a:t>
            </a:r>
            <a:r>
              <a:rPr lang="ko-KR" altLang="en-US" dirty="0"/>
              <a:t>전반적인 서비스 보안 강화</a:t>
            </a:r>
            <a:endParaRPr lang="en-US" altLang="ko-KR" dirty="0"/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lang="ko-KR" altLang="en-US" dirty="0"/>
              <a:t>서버의 상태를 </a:t>
            </a:r>
            <a:r>
              <a:rPr lang="en-US" altLang="ko-KR" dirty="0"/>
              <a:t>Cloud </a:t>
            </a:r>
            <a:r>
              <a:rPr lang="ko-KR" altLang="en-US" dirty="0"/>
              <a:t>관제 팀에서 주시하기 때문에 리소스 이슈 발생 시 민감한 확인 및 빠른 대처 가능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입사 후 담당한 첫 대규모 프로젝트로</a:t>
            </a:r>
            <a:r>
              <a:rPr lang="en-US" altLang="ko-KR" dirty="0"/>
              <a:t>, </a:t>
            </a:r>
            <a:r>
              <a:rPr lang="ko-KR" altLang="en-US" dirty="0"/>
              <a:t>이를 통해 운영되는 서비스의 흐름을 파악하고 어떠한 서비스들이 운영되고 있는 지 확인하는 시간이 되었음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비즈니스 로직이 어느 부분에 어떻게 구현 되어 있고</a:t>
            </a:r>
            <a:r>
              <a:rPr lang="en-US" altLang="ko-KR" dirty="0"/>
              <a:t>, </a:t>
            </a:r>
            <a:r>
              <a:rPr lang="ko-KR" altLang="en-US" dirty="0"/>
              <a:t>어떠한 방식으로 동작하는 지 큰 흐름들을 파악할 수 있게 되어 추후 유지보수 업무 진행에 큰 도움을 받음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A37365B2-8CFF-9990-5C4E-6812009154EB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FEFDC22-5B44-44CF-C2FC-DE0820C9711D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720FDCEF-4D6B-EC98-07D4-8D5E980FADCB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B21F52-12C5-060F-F91F-3271CF981B64}"/>
              </a:ext>
            </a:extLst>
          </p:cNvPr>
          <p:cNvSpPr txBox="1"/>
          <p:nvPr/>
        </p:nvSpPr>
        <p:spPr>
          <a:xfrm>
            <a:off x="1147523" y="6804351"/>
            <a:ext cx="1457454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249260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BBC331-B298-F93C-8CDC-03F71DB0BA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009C13C-9534-D543-3ECF-66E106952DED}"/>
              </a:ext>
            </a:extLst>
          </p:cNvPr>
          <p:cNvSpPr txBox="1"/>
          <p:nvPr/>
        </p:nvSpPr>
        <p:spPr>
          <a:xfrm>
            <a:off x="621792" y="564922"/>
            <a:ext cx="689660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>
                <a:solidFill>
                  <a:srgbClr val="508D4E"/>
                </a:solidFill>
              </a:rPr>
              <a:t>기타 </a:t>
            </a:r>
            <a:r>
              <a:rPr lang="en-US" altLang="ko-KR" sz="4000" b="1" dirty="0">
                <a:solidFill>
                  <a:srgbClr val="508D4E"/>
                </a:solidFill>
              </a:rPr>
              <a:t>/ </a:t>
            </a:r>
            <a:r>
              <a:rPr lang="ko-KR" altLang="en-US" sz="4000" b="1" dirty="0">
                <a:solidFill>
                  <a:srgbClr val="508D4E"/>
                </a:solidFill>
              </a:rPr>
              <a:t>외주 </a:t>
            </a:r>
            <a:r>
              <a:rPr lang="en-US" altLang="ko-KR" sz="4000" b="1" dirty="0">
                <a:solidFill>
                  <a:srgbClr val="508D4E"/>
                </a:solidFill>
              </a:rPr>
              <a:t>- ALYES</a:t>
            </a:r>
            <a:endParaRPr lang="ko-KR" altLang="en-US" sz="4000" b="1" dirty="0">
              <a:solidFill>
                <a:srgbClr val="508D4E"/>
              </a:solidFill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1B8473-9543-5D36-F00E-616F4178A878}"/>
              </a:ext>
            </a:extLst>
          </p:cNvPr>
          <p:cNvSpPr txBox="1"/>
          <p:nvPr/>
        </p:nvSpPr>
        <p:spPr>
          <a:xfrm>
            <a:off x="1146968" y="1272808"/>
            <a:ext cx="100290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400" b="1" dirty="0"/>
              <a:t>OnePass </a:t>
            </a:r>
            <a:r>
              <a:rPr lang="ko-KR" altLang="en-US" sz="2400" b="1" dirty="0"/>
              <a:t>프로젝트 개발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7FE9CB7-DBB3-4991-8120-C2521A30A32F}"/>
              </a:ext>
            </a:extLst>
          </p:cNvPr>
          <p:cNvSpPr txBox="1"/>
          <p:nvPr/>
        </p:nvSpPr>
        <p:spPr>
          <a:xfrm>
            <a:off x="1146968" y="1734473"/>
            <a:ext cx="11235532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dirty="0"/>
              <a:t>유소년 스포츠 클럽 출결 및 셔틀</a:t>
            </a:r>
            <a:r>
              <a:rPr lang="en-US" altLang="ko-KR" dirty="0"/>
              <a:t>, </a:t>
            </a:r>
            <a:r>
              <a:rPr lang="ko-KR" altLang="en-US" dirty="0"/>
              <a:t>회비 납부 여부 관리를 위한 프로젝트 외주 진행</a:t>
            </a:r>
            <a:r>
              <a:rPr lang="en-US" altLang="ko-KR" dirty="0"/>
              <a:t>. </a:t>
            </a:r>
            <a:r>
              <a:rPr lang="ko-KR" altLang="en-US" dirty="0"/>
              <a:t>세월이 흘러도 몇몇 학원 및 스포츠 클럽 들은 학생들의 출결과 셔틀 탑승 여부</a:t>
            </a:r>
            <a:r>
              <a:rPr lang="en-US" altLang="ko-KR" dirty="0"/>
              <a:t>, </a:t>
            </a:r>
            <a:r>
              <a:rPr lang="ko-KR" altLang="en-US" dirty="0"/>
              <a:t>회비 관리 등을 일일이 직접 관리 하는 불편함이 있음을 확인</a:t>
            </a:r>
            <a:r>
              <a:rPr lang="en-US" altLang="ko-KR" dirty="0"/>
              <a:t>. </a:t>
            </a:r>
            <a:r>
              <a:rPr lang="ko-KR" altLang="en-US" dirty="0"/>
              <a:t>이에 외주 요청 담당자가 아이디어를 얻어 해당 업무 프로그램들을 하나로 쉽게 관리하고</a:t>
            </a:r>
            <a:r>
              <a:rPr lang="en-US" altLang="ko-KR" dirty="0"/>
              <a:t>, </a:t>
            </a:r>
            <a:r>
              <a:rPr lang="ko-KR" altLang="en-US" dirty="0"/>
              <a:t>프로그램의 구독료를 통한 수익 창출 모델을 만드는 프로젝트 외주 개발을 요청</a:t>
            </a:r>
            <a:r>
              <a:rPr lang="en-US" altLang="ko-KR" dirty="0"/>
              <a:t>.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F68FD64-4438-CACB-7765-4503FE5898F0}"/>
              </a:ext>
            </a:extLst>
          </p:cNvPr>
          <p:cNvSpPr/>
          <p:nvPr/>
        </p:nvSpPr>
        <p:spPr>
          <a:xfrm>
            <a:off x="1140380" y="3007528"/>
            <a:ext cx="11242120" cy="388939"/>
          </a:xfrm>
          <a:prstGeom prst="rect">
            <a:avLst/>
          </a:prstGeom>
          <a:solidFill>
            <a:srgbClr val="252525">
              <a:alpha val="1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B596AC0-19DD-1374-AE24-9E518C229B56}"/>
              </a:ext>
            </a:extLst>
          </p:cNvPr>
          <p:cNvSpPr txBox="1"/>
          <p:nvPr/>
        </p:nvSpPr>
        <p:spPr>
          <a:xfrm>
            <a:off x="1120554" y="3007528"/>
            <a:ext cx="1187154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800" b="1" dirty="0">
                <a:effectLst/>
              </a:rPr>
              <a:t>🛠️</a:t>
            </a:r>
            <a:r>
              <a:rPr lang="ko-KR" altLang="en-US" b="1" dirty="0">
                <a:effectLst/>
              </a:rPr>
              <a:t> </a:t>
            </a:r>
            <a:r>
              <a:rPr lang="en-US" altLang="ko-KR" b="1" dirty="0">
                <a:effectLst/>
                <a:latin typeface="+mn-ea"/>
              </a:rPr>
              <a:t>Java, Spring Boot (Spring Data JPA, Spring Security), AWS EC2, RDS, </a:t>
            </a:r>
            <a:r>
              <a:rPr lang="en-US" altLang="ko-KR" b="1" dirty="0" err="1">
                <a:effectLst/>
                <a:latin typeface="+mn-ea"/>
              </a:rPr>
              <a:t>Github</a:t>
            </a:r>
            <a:r>
              <a:rPr lang="en-US" altLang="ko-KR" b="1" dirty="0">
                <a:effectLst/>
                <a:latin typeface="+mn-ea"/>
              </a:rPr>
              <a:t> Action, </a:t>
            </a:r>
            <a:r>
              <a:rPr lang="en-US" altLang="ko-KR" b="1" dirty="0" err="1">
                <a:effectLst/>
                <a:latin typeface="+mn-ea"/>
              </a:rPr>
              <a:t>MySql</a:t>
            </a:r>
            <a:r>
              <a:rPr lang="en-US" altLang="ko-KR" b="1" dirty="0">
                <a:effectLst/>
                <a:latin typeface="+mn-ea"/>
              </a:rPr>
              <a:t> </a:t>
            </a:r>
            <a:r>
              <a:rPr lang="ko-KR" altLang="en-US" b="1" dirty="0">
                <a:effectLst/>
                <a:latin typeface="+mn-ea"/>
              </a:rPr>
              <a:t>등</a:t>
            </a:r>
            <a:endParaRPr lang="ko-KR" altLang="en-US" b="1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D8F7BE-E6DD-CE2A-4284-F638D0C9B9E6}"/>
              </a:ext>
            </a:extLst>
          </p:cNvPr>
          <p:cNvSpPr txBox="1"/>
          <p:nvPr/>
        </p:nvSpPr>
        <p:spPr>
          <a:xfrm>
            <a:off x="1146968" y="3469193"/>
            <a:ext cx="11235532" cy="32624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lang="ko-KR" altLang="en-US" sz="2200" b="1" dirty="0"/>
              <a:t>성과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확정되지 않은 비즈니스 로직과 잦은 기획안 변경으로 </a:t>
            </a:r>
            <a:r>
              <a:rPr lang="en-US" altLang="ko-KR" dirty="0"/>
              <a:t>Agile </a:t>
            </a:r>
            <a:r>
              <a:rPr lang="ko-KR" altLang="en-US" dirty="0"/>
              <a:t>방법론을 적용하여 개발 진행</a:t>
            </a:r>
            <a:r>
              <a:rPr lang="en-US" altLang="ko-KR" dirty="0"/>
              <a:t>. </a:t>
            </a:r>
            <a:r>
              <a:rPr lang="ko-KR" altLang="en-US" dirty="0"/>
              <a:t>이를 통해 실무에 가까운 프로젝트 환경을 경험하였으며</a:t>
            </a:r>
            <a:r>
              <a:rPr lang="en-US" altLang="ko-KR" dirty="0"/>
              <a:t>, </a:t>
            </a:r>
            <a:r>
              <a:rPr lang="ko-KR" altLang="en-US" dirty="0"/>
              <a:t>실 유저가 발생한 경험을 통해 외주 담당자와 직접적으로 소통하며 </a:t>
            </a:r>
            <a:r>
              <a:rPr lang="en-US" altLang="ko-KR" dirty="0"/>
              <a:t>QA</a:t>
            </a:r>
            <a:r>
              <a:rPr lang="ko-KR" altLang="en-US" dirty="0"/>
              <a:t>를 진행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2</a:t>
            </a:r>
            <a:r>
              <a:rPr lang="ko-KR" altLang="en-US" dirty="0"/>
              <a:t>개의 팀이 경쟁 하는 구도로 진행 하였으며</a:t>
            </a:r>
            <a:r>
              <a:rPr lang="en-US" altLang="ko-KR" dirty="0"/>
              <a:t>, </a:t>
            </a:r>
            <a:r>
              <a:rPr lang="ko-KR" altLang="en-US" dirty="0"/>
              <a:t>결과 평과 지표인 디자인</a:t>
            </a:r>
            <a:r>
              <a:rPr lang="en-US" altLang="ko-KR" dirty="0"/>
              <a:t>, </a:t>
            </a:r>
            <a:r>
              <a:rPr lang="ko-KR" altLang="en-US" dirty="0"/>
              <a:t>성능</a:t>
            </a:r>
            <a:r>
              <a:rPr lang="en-US" altLang="ko-KR" dirty="0"/>
              <a:t>, </a:t>
            </a:r>
            <a:r>
              <a:rPr lang="ko-KR" altLang="en-US" dirty="0"/>
              <a:t>기능 모두 </a:t>
            </a:r>
            <a:r>
              <a:rPr lang="ko-KR" altLang="en-US" dirty="0" err="1"/>
              <a:t>경쟁팀</a:t>
            </a:r>
            <a:r>
              <a:rPr lang="ko-KR" altLang="en-US" dirty="0"/>
              <a:t> 보다 우위를 점해 프로토 타입 배포 및 실제 서비스 런칭 진행 경험</a:t>
            </a:r>
            <a:endParaRPr lang="en-US" altLang="ko-KR" dirty="0"/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ko-KR" altLang="en-US" sz="2200" b="1" dirty="0"/>
              <a:t>인사이트</a:t>
            </a:r>
            <a:endParaRPr lang="en-US" altLang="ko-KR" sz="2200" b="1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퇴사 후 실무에 가까운 프로젝트를 진행하며 잃었던 업무 적응력을 되찾을 수 있는 좋은 기회가 되었으며</a:t>
            </a:r>
            <a:r>
              <a:rPr lang="en-US" altLang="ko-KR" dirty="0"/>
              <a:t>, </a:t>
            </a:r>
            <a:r>
              <a:rPr lang="ko-KR" altLang="en-US" dirty="0"/>
              <a:t>개발자의 자존감 성립 및 상태 진단을 통해 부족한 점과 필요한 것이 무엇인지 진단 해 볼 좋은 기회가 됨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특히 </a:t>
            </a:r>
            <a:r>
              <a:rPr lang="en-US" altLang="ko-KR" dirty="0"/>
              <a:t>ERD </a:t>
            </a:r>
            <a:r>
              <a:rPr lang="ko-KR" altLang="en-US" dirty="0"/>
              <a:t>설계를 진행할 때</a:t>
            </a:r>
            <a:r>
              <a:rPr lang="en-US" altLang="ko-KR" dirty="0"/>
              <a:t>, </a:t>
            </a:r>
            <a:r>
              <a:rPr lang="ko-KR" altLang="en-US" dirty="0"/>
              <a:t>열심히 고민해서 </a:t>
            </a:r>
            <a:r>
              <a:rPr lang="en-US" altLang="ko-KR" dirty="0"/>
              <a:t>ERD</a:t>
            </a:r>
            <a:r>
              <a:rPr lang="ko-KR" altLang="en-US" dirty="0"/>
              <a:t>를 설계하고</a:t>
            </a:r>
            <a:r>
              <a:rPr lang="en-US" altLang="ko-KR" dirty="0"/>
              <a:t>, </a:t>
            </a:r>
            <a:r>
              <a:rPr lang="ko-KR" altLang="en-US" dirty="0"/>
              <a:t>추후 프로젝트 개발을 완료한 뒤 내가 고심하며 계획했던 내용들이 구현되었을 때 큰 성취감을 느낌</a:t>
            </a:r>
            <a:r>
              <a:rPr lang="en-US" altLang="ko-KR" dirty="0"/>
              <a:t>. </a:t>
            </a:r>
            <a:r>
              <a:rPr lang="ko-KR" altLang="en-US" dirty="0"/>
              <a:t>특히</a:t>
            </a:r>
            <a:r>
              <a:rPr lang="en-US" altLang="ko-KR" dirty="0"/>
              <a:t>, </a:t>
            </a:r>
            <a:r>
              <a:rPr lang="ko-KR" altLang="en-US" dirty="0"/>
              <a:t>확실하지 않은 기획을 통해 개발할 경우 유연성과 확장성을 고려한 </a:t>
            </a:r>
            <a:r>
              <a:rPr lang="en-US" altLang="ko-KR" dirty="0"/>
              <a:t>ERD </a:t>
            </a:r>
            <a:r>
              <a:rPr lang="ko-KR" altLang="en-US" dirty="0"/>
              <a:t>설계로 사이드 이펙트를 최소화할 수 있었던 점에서 큰 보람을 느낌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B76D2366-7B79-85DD-7229-A89D9F7DAB9C}"/>
              </a:ext>
            </a:extLst>
          </p:cNvPr>
          <p:cNvSpPr/>
          <p:nvPr/>
        </p:nvSpPr>
        <p:spPr>
          <a:xfrm>
            <a:off x="6869113" y="-495300"/>
            <a:ext cx="3327400" cy="889653"/>
          </a:xfrm>
          <a:prstGeom prst="rect">
            <a:avLst/>
          </a:prstGeom>
          <a:solidFill>
            <a:srgbClr val="80AF8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4A054CD-74A6-B978-2E65-42612E29CE73}"/>
              </a:ext>
            </a:extLst>
          </p:cNvPr>
          <p:cNvSpPr/>
          <p:nvPr/>
        </p:nvSpPr>
        <p:spPr>
          <a:xfrm>
            <a:off x="9034245" y="-495300"/>
            <a:ext cx="3327400" cy="889653"/>
          </a:xfrm>
          <a:prstGeom prst="rect">
            <a:avLst/>
          </a:prstGeom>
          <a:solidFill>
            <a:srgbClr val="508D4E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00A1D8EB-049F-A7A6-7FB9-4F4D193ADF33}"/>
              </a:ext>
            </a:extLst>
          </p:cNvPr>
          <p:cNvSpPr/>
          <p:nvPr/>
        </p:nvSpPr>
        <p:spPr>
          <a:xfrm>
            <a:off x="11589844" y="-495300"/>
            <a:ext cx="3327400" cy="889653"/>
          </a:xfrm>
          <a:prstGeom prst="rect">
            <a:avLst/>
          </a:prstGeom>
          <a:solidFill>
            <a:srgbClr val="1A531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CBBF8D-C36E-DA53-A3A2-28C4B5B9C697}"/>
              </a:ext>
            </a:extLst>
          </p:cNvPr>
          <p:cNvSpPr txBox="1"/>
          <p:nvPr/>
        </p:nvSpPr>
        <p:spPr>
          <a:xfrm>
            <a:off x="1147522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ko-KR" altLang="en-US" sz="2200" b="1" i="0" u="none" strike="noStrike" kern="1200" cap="none" spc="0" normalizeH="0" baseline="0" noProof="0" dirty="0">
                <a:ln>
                  <a:noFill/>
                </a:ln>
                <a:solidFill>
                  <a:srgbClr val="508D4E"/>
                </a:solidFill>
                <a:effectLst/>
                <a:uLnTx/>
                <a:uFillTx/>
                <a:latin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상세 보기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0B3B2B4-BC93-05FC-2528-00130A70E3D3}"/>
              </a:ext>
            </a:extLst>
          </p:cNvPr>
          <p:cNvSpPr txBox="1"/>
          <p:nvPr/>
        </p:nvSpPr>
        <p:spPr>
          <a:xfrm>
            <a:off x="2622295" y="6804351"/>
            <a:ext cx="135112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lang="ko-KR" altLang="en-US" sz="2200" b="1" dirty="0">
                <a:solidFill>
                  <a:srgbClr val="508D4E"/>
                </a:solidFill>
                <a:latin typeface="+mn-ea"/>
                <a:hlinkClick r:id="rId3"/>
              </a:rPr>
              <a:t>시연 영상</a:t>
            </a:r>
            <a:endParaRPr kumimoji="0" lang="en-US" altLang="ko-KR" sz="2200" b="1" i="0" u="none" strike="noStrike" kern="1200" cap="none" spc="0" normalizeH="0" baseline="0" noProof="0" dirty="0">
              <a:ln>
                <a:noFill/>
              </a:ln>
              <a:solidFill>
                <a:srgbClr val="508D4E"/>
              </a:solidFill>
              <a:effectLst/>
              <a:uLnTx/>
              <a:uFillTx/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27891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Noto Sans">
      <a:majorFont>
        <a:latin typeface="Noto Sans KR Black"/>
        <a:ea typeface="Noto Sans KR Black"/>
        <a:cs typeface=""/>
      </a:majorFont>
      <a:minorFont>
        <a:latin typeface="Noto Sans KR"/>
        <a:ea typeface="Noto Sans KR"/>
        <a:cs typeface="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622</TotalTime>
  <Words>1995</Words>
  <Application>Microsoft Office PowerPoint</Application>
  <PresentationFormat>사용자 지정</PresentationFormat>
  <Paragraphs>160</Paragraphs>
  <Slides>11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11</vt:i4>
      </vt:variant>
    </vt:vector>
  </HeadingPairs>
  <TitlesOfParts>
    <vt:vector size="17" baseType="lpstr">
      <vt:lpstr>SUIT Variable</vt:lpstr>
      <vt:lpstr>Noto Sans KR</vt:lpstr>
      <vt:lpstr>Arial</vt:lpstr>
      <vt:lpstr>맑은 고딕</vt:lpstr>
      <vt:lpstr>Noto Sans KR Black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daejin mun</dc:creator>
  <cp:lastModifiedBy>daejin mun</cp:lastModifiedBy>
  <cp:revision>25</cp:revision>
  <dcterms:created xsi:type="dcterms:W3CDTF">2025-02-04T07:41:41Z</dcterms:created>
  <dcterms:modified xsi:type="dcterms:W3CDTF">2025-05-08T12:19:18Z</dcterms:modified>
</cp:coreProperties>
</file>