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58" r:id="rId4"/>
    <p:sldId id="259" r:id="rId5"/>
  </p:sldIdLst>
  <p:sldSz cx="14257338" cy="80200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B5AF"/>
    <a:srgbClr val="3A75B0"/>
    <a:srgbClr val="252525"/>
    <a:srgbClr val="BEE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6" autoAdjust="0"/>
    <p:restoredTop sz="94681" autoAdjust="0"/>
  </p:normalViewPr>
  <p:slideViewPr>
    <p:cSldViewPr snapToGrid="0">
      <p:cViewPr>
        <p:scale>
          <a:sx n="66" d="100"/>
          <a:sy n="66" d="100"/>
        </p:scale>
        <p:origin x="1248" y="7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C02A021-9EF5-3847-AA8A-10836C330B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FF8038-A495-F40E-BB9F-C2F4A9B8F1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E6AFD-91E3-45AD-A05A-572BFF058F8E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E44C189-9C4F-A096-EBB1-B5049114A1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91E3A-B62E-77E8-6758-024080DB36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45A9F2-EE39-4142-BEE3-5F3279CB6C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932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0E417E-C2EC-425C-B420-CF724443A5AE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36961-299C-49BC-BC33-AA2CF7FEB5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246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436961-299C-49BC-BC33-AA2CF7FEB5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400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167" y="1312541"/>
            <a:ext cx="10693004" cy="2792166"/>
          </a:xfrm>
        </p:spPr>
        <p:txBody>
          <a:bodyPr anchor="b"/>
          <a:lstStyle>
            <a:lvl1pPr algn="ctr"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167" y="4212383"/>
            <a:ext cx="10693004" cy="1936322"/>
          </a:xfrm>
        </p:spPr>
        <p:txBody>
          <a:bodyPr/>
          <a:lstStyle>
            <a:lvl1pPr marL="0" indent="0" algn="ctr">
              <a:buNone/>
              <a:defRPr sz="2807"/>
            </a:lvl1pPr>
            <a:lvl2pPr marL="534650" indent="0" algn="ctr">
              <a:buNone/>
              <a:defRPr sz="2339"/>
            </a:lvl2pPr>
            <a:lvl3pPr marL="1069299" indent="0" algn="ctr">
              <a:buNone/>
              <a:defRPr sz="2105"/>
            </a:lvl3pPr>
            <a:lvl4pPr marL="1603949" indent="0" algn="ctr">
              <a:buNone/>
              <a:defRPr sz="1871"/>
            </a:lvl4pPr>
            <a:lvl5pPr marL="2138599" indent="0" algn="ctr">
              <a:buNone/>
              <a:defRPr sz="1871"/>
            </a:lvl5pPr>
            <a:lvl6pPr marL="2673248" indent="0" algn="ctr">
              <a:buNone/>
              <a:defRPr sz="1871"/>
            </a:lvl6pPr>
            <a:lvl7pPr marL="3207898" indent="0" algn="ctr">
              <a:buNone/>
              <a:defRPr sz="1871"/>
            </a:lvl7pPr>
            <a:lvl8pPr marL="3742548" indent="0" algn="ctr">
              <a:buNone/>
              <a:defRPr sz="1871"/>
            </a:lvl8pPr>
            <a:lvl9pPr marL="4277197" indent="0" algn="ctr">
              <a:buNone/>
              <a:defRPr sz="18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11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16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766" y="1999444"/>
            <a:ext cx="12296954" cy="3336117"/>
          </a:xfrm>
        </p:spPr>
        <p:txBody>
          <a:bodyPr anchor="b"/>
          <a:lstStyle>
            <a:lvl1pPr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766" y="5367123"/>
            <a:ext cx="12296954" cy="1754385"/>
          </a:xfrm>
        </p:spPr>
        <p:txBody>
          <a:bodyPr/>
          <a:lstStyle>
            <a:lvl1pPr marL="0" indent="0">
              <a:buNone/>
              <a:defRPr sz="2807">
                <a:solidFill>
                  <a:schemeClr val="tx1">
                    <a:tint val="75000"/>
                  </a:schemeClr>
                </a:solidFill>
              </a:defRPr>
            </a:lvl1pPr>
            <a:lvl2pPr marL="534650" indent="0">
              <a:buNone/>
              <a:defRPr sz="2339">
                <a:solidFill>
                  <a:schemeClr val="tx1">
                    <a:tint val="75000"/>
                  </a:schemeClr>
                </a:solidFill>
              </a:defRPr>
            </a:lvl2pPr>
            <a:lvl3pPr marL="1069299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3pPr>
            <a:lvl4pPr marL="160394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4pPr>
            <a:lvl5pPr marL="213859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5pPr>
            <a:lvl6pPr marL="26732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6pPr>
            <a:lvl7pPr marL="320789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7pPr>
            <a:lvl8pPr marL="37425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8pPr>
            <a:lvl9pPr marL="4277197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17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0192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17777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2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49" y="426994"/>
            <a:ext cx="12296954" cy="1550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049" y="1966027"/>
            <a:ext cx="6031522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2049" y="2929546"/>
            <a:ext cx="6031522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17777" y="1966027"/>
            <a:ext cx="6061226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17777" y="2929546"/>
            <a:ext cx="6061226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053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027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1226" y="1154739"/>
            <a:ext cx="7217777" cy="5699434"/>
          </a:xfrm>
        </p:spPr>
        <p:txBody>
          <a:bodyPr/>
          <a:lstStyle>
            <a:lvl1pPr>
              <a:defRPr sz="3742"/>
            </a:lvl1pPr>
            <a:lvl2pPr>
              <a:defRPr sz="3274"/>
            </a:lvl2pPr>
            <a:lvl3pPr>
              <a:defRPr sz="2807"/>
            </a:lvl3pPr>
            <a:lvl4pPr>
              <a:defRPr sz="2339"/>
            </a:lvl4pPr>
            <a:lvl5pPr>
              <a:defRPr sz="2339"/>
            </a:lvl5pPr>
            <a:lvl6pPr>
              <a:defRPr sz="2339"/>
            </a:lvl6pPr>
            <a:lvl7pPr>
              <a:defRPr sz="2339"/>
            </a:lvl7pPr>
            <a:lvl8pPr>
              <a:defRPr sz="2339"/>
            </a:lvl8pPr>
            <a:lvl9pPr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33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61226" y="1154739"/>
            <a:ext cx="7217777" cy="5699434"/>
          </a:xfrm>
        </p:spPr>
        <p:txBody>
          <a:bodyPr anchor="t"/>
          <a:lstStyle>
            <a:lvl1pPr marL="0" indent="0">
              <a:buNone/>
              <a:defRPr sz="3742"/>
            </a:lvl1pPr>
            <a:lvl2pPr marL="534650" indent="0">
              <a:buNone/>
              <a:defRPr sz="3274"/>
            </a:lvl2pPr>
            <a:lvl3pPr marL="1069299" indent="0">
              <a:buNone/>
              <a:defRPr sz="2807"/>
            </a:lvl3pPr>
            <a:lvl4pPr marL="1603949" indent="0">
              <a:buNone/>
              <a:defRPr sz="2339"/>
            </a:lvl4pPr>
            <a:lvl5pPr marL="2138599" indent="0">
              <a:buNone/>
              <a:defRPr sz="2339"/>
            </a:lvl5pPr>
            <a:lvl6pPr marL="2673248" indent="0">
              <a:buNone/>
              <a:defRPr sz="2339"/>
            </a:lvl6pPr>
            <a:lvl7pPr marL="3207898" indent="0">
              <a:buNone/>
              <a:defRPr sz="2339"/>
            </a:lvl7pPr>
            <a:lvl8pPr marL="3742548" indent="0">
              <a:buNone/>
              <a:defRPr sz="2339"/>
            </a:lvl8pPr>
            <a:lvl9pPr marL="4277197" indent="0">
              <a:buNone/>
              <a:defRPr sz="2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81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02907" y="426993"/>
            <a:ext cx="3074239" cy="67966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0192" y="426993"/>
            <a:ext cx="9044499" cy="67966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3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0192" y="426994"/>
            <a:ext cx="12296954" cy="1550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0192" y="2134967"/>
            <a:ext cx="12296954" cy="5088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0192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2A79-3CD5-45FF-B4A2-CB727F17E6E3}" type="datetimeFigureOut">
              <a:rPr lang="ko-KR" altLang="en-US" smtClean="0"/>
              <a:t>2025-05-06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743" y="7433399"/>
            <a:ext cx="4811852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69245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91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69299" rtl="0" eaLnBrk="1" latinLnBrk="1" hangingPunct="1">
        <a:lnSpc>
          <a:spcPct val="90000"/>
        </a:lnSpc>
        <a:spcBef>
          <a:spcPct val="0"/>
        </a:spcBef>
        <a:buNone/>
        <a:defRPr sz="51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7325" indent="-267325" algn="l" defTabSz="1069299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3274" kern="1200">
          <a:solidFill>
            <a:schemeClr val="tx1"/>
          </a:solidFill>
          <a:latin typeface="+mn-lt"/>
          <a:ea typeface="+mn-ea"/>
          <a:cs typeface="+mn-cs"/>
        </a:defRPr>
      </a:lvl1pPr>
      <a:lvl2pPr marL="801975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807" kern="1200">
          <a:solidFill>
            <a:schemeClr val="tx1"/>
          </a:solidFill>
          <a:latin typeface="+mn-lt"/>
          <a:ea typeface="+mn-ea"/>
          <a:cs typeface="+mn-cs"/>
        </a:defRPr>
      </a:lvl2pPr>
      <a:lvl3pPr marL="13366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87127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4059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9405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47522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40098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544522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1pPr>
      <a:lvl2pPr marL="53465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692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3pPr>
      <a:lvl4pPr marL="160394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1385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6732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20789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37425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277197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3775BDF-20AD-D86C-3053-50526BEDF5B0}"/>
              </a:ext>
            </a:extLst>
          </p:cNvPr>
          <p:cNvSpPr/>
          <p:nvPr/>
        </p:nvSpPr>
        <p:spPr>
          <a:xfrm>
            <a:off x="4971396" y="1556049"/>
            <a:ext cx="8103473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F5BAE1D-55F8-1197-A2DF-9FBBDF1C1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8775"/>
            <a:ext cx="3578757" cy="4762500"/>
          </a:xfrm>
          <a:prstGeom prst="roundRect">
            <a:avLst>
              <a:gd name="adj" fmla="val 26317"/>
            </a:avLst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D319E8-A721-72C4-BBB0-C22656583289}"/>
              </a:ext>
            </a:extLst>
          </p:cNvPr>
          <p:cNvSpPr txBox="1"/>
          <p:nvPr/>
        </p:nvSpPr>
        <p:spPr>
          <a:xfrm>
            <a:off x="621792" y="564922"/>
            <a:ext cx="38591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57B5AF"/>
                </a:solidFill>
              </a:rPr>
              <a:t>문대진 </a:t>
            </a:r>
            <a:r>
              <a:rPr lang="en-US" altLang="ko-KR" sz="4000" b="1" dirty="0">
                <a:solidFill>
                  <a:srgbClr val="57B5AF"/>
                </a:solidFill>
              </a:rPr>
              <a:t>Portfolio</a:t>
            </a:r>
            <a:endParaRPr lang="ko-KR" altLang="en-US" sz="4000" b="1" dirty="0">
              <a:solidFill>
                <a:srgbClr val="57B5A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ACD85-82D5-168C-C714-69186C0D0439}"/>
              </a:ext>
            </a:extLst>
          </p:cNvPr>
          <p:cNvSpPr txBox="1"/>
          <p:nvPr/>
        </p:nvSpPr>
        <p:spPr>
          <a:xfrm>
            <a:off x="4951571" y="1628775"/>
            <a:ext cx="83019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/>
              <a:t>💡 </a:t>
            </a:r>
            <a:r>
              <a:rPr lang="ko-KR" altLang="en-US" sz="2400" b="1" dirty="0">
                <a:solidFill>
                  <a:srgbClr val="57B5AF"/>
                </a:solidFill>
              </a:rPr>
              <a:t>다양한 경험</a:t>
            </a:r>
            <a:r>
              <a:rPr lang="ko-KR" altLang="en-US" sz="2400" b="1" dirty="0"/>
              <a:t>을 통해 </a:t>
            </a:r>
            <a:r>
              <a:rPr lang="ko-KR" altLang="en-US" sz="2400" b="1" dirty="0">
                <a:solidFill>
                  <a:srgbClr val="57B5AF"/>
                </a:solidFill>
              </a:rPr>
              <a:t>사용자의 만족감을 고민</a:t>
            </a:r>
            <a:r>
              <a:rPr lang="ko-KR" altLang="en-US" sz="2400" b="1" dirty="0"/>
              <a:t>하는 </a:t>
            </a:r>
            <a:r>
              <a:rPr lang="ko-KR" altLang="en-US" sz="2400" b="1" dirty="0" err="1"/>
              <a:t>백엔드</a:t>
            </a:r>
            <a:r>
              <a:rPr lang="ko-KR" altLang="en-US" sz="2400" b="1" dirty="0"/>
              <a:t> 개발자</a:t>
            </a:r>
            <a:endParaRPr lang="ko-KR" altLang="en-US" sz="23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51361-F773-C97A-D4C5-3DB0EF73BB00}"/>
              </a:ext>
            </a:extLst>
          </p:cNvPr>
          <p:cNvSpPr txBox="1"/>
          <p:nvPr/>
        </p:nvSpPr>
        <p:spPr>
          <a:xfrm>
            <a:off x="4951571" y="23168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🚩 </a:t>
            </a:r>
            <a:r>
              <a:rPr lang="en-US" altLang="ko-KR" sz="2200" b="1" dirty="0"/>
              <a:t>Contact me</a:t>
            </a:r>
            <a:endParaRPr lang="ko-KR" altLang="en-US" sz="2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D49BD-15C6-D122-3435-1E2FDD67B046}"/>
              </a:ext>
            </a:extLst>
          </p:cNvPr>
          <p:cNvSpPr txBox="1"/>
          <p:nvPr/>
        </p:nvSpPr>
        <p:spPr>
          <a:xfrm>
            <a:off x="5108027" y="2747753"/>
            <a:ext cx="511724" cy="1707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📧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📞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effectLst/>
                <a:latin typeface="Apple Color Emoji"/>
              </a:rPr>
              <a:t>👾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🔗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994823-E5DF-BDF0-ECD9-6CA0614FBEBF}"/>
              </a:ext>
            </a:extLst>
          </p:cNvPr>
          <p:cNvSpPr txBox="1"/>
          <p:nvPr/>
        </p:nvSpPr>
        <p:spPr>
          <a:xfrm>
            <a:off x="5696334" y="2747753"/>
            <a:ext cx="513955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eowls1358@gmail.com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010-5555-6666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https://github.com/daejin94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https://velog.io/@q1w2e3r4/posts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52077E-9821-BCE7-288E-E57B3F0728D7}"/>
              </a:ext>
            </a:extLst>
          </p:cNvPr>
          <p:cNvSpPr txBox="1"/>
          <p:nvPr/>
        </p:nvSpPr>
        <p:spPr>
          <a:xfrm>
            <a:off x="4951571" y="46702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🏫 </a:t>
            </a:r>
            <a:r>
              <a:rPr lang="en-US" altLang="ko-KR" sz="2200" b="1" dirty="0"/>
              <a:t>Education</a:t>
            </a:r>
            <a:endParaRPr lang="ko-KR" altLang="en-US" sz="2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28F81-E8CB-ED0E-2726-E95F919BD11E}"/>
              </a:ext>
            </a:extLst>
          </p:cNvPr>
          <p:cNvSpPr txBox="1"/>
          <p:nvPr/>
        </p:nvSpPr>
        <p:spPr>
          <a:xfrm>
            <a:off x="849981" y="6476154"/>
            <a:ext cx="34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Backend Developer</a:t>
            </a:r>
            <a:endParaRPr lang="ko-KR" alt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B52106-A335-583C-2506-EAB31E345892}"/>
              </a:ext>
            </a:extLst>
          </p:cNvPr>
          <p:cNvSpPr txBox="1"/>
          <p:nvPr/>
        </p:nvSpPr>
        <p:spPr>
          <a:xfrm>
            <a:off x="5031444" y="5170712"/>
            <a:ext cx="6648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b="1" dirty="0"/>
              <a:t>1</a:t>
            </a:r>
            <a:r>
              <a:rPr lang="ko-KR" altLang="en-US" b="1" dirty="0"/>
              <a:t>년</a:t>
            </a:r>
            <a:endParaRPr lang="en-US" altLang="ko-KR" b="1" dirty="0"/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8DBE5-C52C-F8C1-D354-DA1273133B88}"/>
              </a:ext>
            </a:extLst>
          </p:cNvPr>
          <p:cNvSpPr txBox="1"/>
          <p:nvPr/>
        </p:nvSpPr>
        <p:spPr>
          <a:xfrm>
            <a:off x="5696334" y="5170712"/>
            <a:ext cx="696556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신구대학교 </a:t>
            </a:r>
            <a:r>
              <a:rPr lang="en-US" altLang="ko-KR" b="1" dirty="0"/>
              <a:t>IT </a:t>
            </a:r>
            <a:r>
              <a:rPr lang="ko-KR" altLang="en-US" b="1" dirty="0"/>
              <a:t>미디어 학과 전공 심화 과정 </a:t>
            </a:r>
            <a:r>
              <a:rPr lang="en-US" altLang="ko-KR" b="1" dirty="0"/>
              <a:t>(</a:t>
            </a:r>
            <a:r>
              <a:rPr lang="ko-KR" altLang="en-US" b="1" dirty="0"/>
              <a:t>야간</a:t>
            </a:r>
            <a:r>
              <a:rPr lang="en-US" altLang="ko-KR" b="1" dirty="0"/>
              <a:t>)</a:t>
            </a:r>
            <a:r>
              <a:rPr lang="ko-KR" altLang="en-US" b="1" dirty="0"/>
              <a:t> 졸업 </a:t>
            </a:r>
            <a:r>
              <a:rPr lang="en-US" altLang="ko-KR" b="1" dirty="0"/>
              <a:t>(21.03 ~ (22.02)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신구대학교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IT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미디어 학과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(13.03 ~ 19.02)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경기 광주 중앙 고등학교 산업 기계과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(10.03 ~ 13.02)</a:t>
            </a:r>
          </a:p>
        </p:txBody>
      </p:sp>
    </p:spTree>
    <p:extLst>
      <p:ext uri="{BB962C8B-B14F-4D97-AF65-F5344CB8AC3E}">
        <p14:creationId xmlns:p14="http://schemas.microsoft.com/office/powerpoint/2010/main" val="262925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5FA05E-D3FF-35D2-A2BE-4886A17F0585}"/>
              </a:ext>
            </a:extLst>
          </p:cNvPr>
          <p:cNvSpPr/>
          <p:nvPr/>
        </p:nvSpPr>
        <p:spPr>
          <a:xfrm>
            <a:off x="1140380" y="1443631"/>
            <a:ext cx="741384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B5CAD46A-5D4B-B6A5-52D7-E1DDC3031ED0}"/>
              </a:ext>
            </a:extLst>
          </p:cNvPr>
          <p:cNvGrpSpPr/>
          <p:nvPr/>
        </p:nvGrpSpPr>
        <p:grpSpPr>
          <a:xfrm>
            <a:off x="11153488" y="2234046"/>
            <a:ext cx="2173026" cy="1143120"/>
            <a:chOff x="11153488" y="2234046"/>
            <a:chExt cx="2173026" cy="1143120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A01ED0A2-259A-616C-5459-B0F021F5D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7335"/>
            <a:stretch/>
          </p:blipFill>
          <p:spPr>
            <a:xfrm>
              <a:off x="11153488" y="2234046"/>
              <a:ext cx="2173026" cy="1143120"/>
            </a:xfrm>
            <a:prstGeom prst="rect">
              <a:avLst/>
            </a:prstGeom>
            <a:ln>
              <a:solidFill>
                <a:srgbClr val="3A75B0"/>
              </a:solidFill>
            </a:ln>
          </p:spPr>
        </p:pic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1186462B-CBD1-872C-AC77-F1A076D19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153488" y="2265657"/>
              <a:ext cx="2173026" cy="1086513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D49EA6C-B69A-A383-FD01-ED66D1D9E368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7B5AF"/>
                </a:solidFill>
              </a:rPr>
              <a:t>Skills / Language &amp; Frameworks</a:t>
            </a:r>
            <a:endParaRPr lang="ko-KR" altLang="en-US" sz="4000" b="1" dirty="0">
              <a:solidFill>
                <a:srgbClr val="57B5A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CC38F1-843C-B3D0-4355-58F1DE1FE629}"/>
              </a:ext>
            </a:extLst>
          </p:cNvPr>
          <p:cNvSpPr txBox="1"/>
          <p:nvPr/>
        </p:nvSpPr>
        <p:spPr>
          <a:xfrm>
            <a:off x="1120555" y="2234046"/>
            <a:ext cx="10235045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Java</a:t>
            </a:r>
            <a:r>
              <a:rPr lang="en-US" altLang="ko-KR" dirty="0"/>
              <a:t>: 3</a:t>
            </a:r>
            <a:r>
              <a:rPr lang="ko-KR" altLang="en-US" dirty="0"/>
              <a:t>년 차 안드로이드 개발 경험 및 최근 </a:t>
            </a:r>
            <a:r>
              <a:rPr lang="en-US" altLang="ko-KR" dirty="0"/>
              <a:t>Spring Boot </a:t>
            </a:r>
            <a:r>
              <a:rPr lang="ko-KR" altLang="en-US" dirty="0"/>
              <a:t>로의 전환 이후 프로젝트 </a:t>
            </a:r>
            <a:r>
              <a:rPr lang="en-US" altLang="ko-KR" dirty="0"/>
              <a:t>2</a:t>
            </a:r>
            <a:r>
              <a:rPr lang="ko-KR" altLang="en-US" dirty="0"/>
              <a:t>개 참여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인터페이스</a:t>
            </a:r>
            <a:r>
              <a:rPr lang="en-US" altLang="ko-KR" dirty="0"/>
              <a:t>, </a:t>
            </a:r>
            <a:r>
              <a:rPr lang="ko-KR" altLang="en-US" dirty="0"/>
              <a:t>추상 클래스 조합 및 </a:t>
            </a:r>
            <a:r>
              <a:rPr lang="en-US" altLang="ko-KR" dirty="0"/>
              <a:t>SOLID </a:t>
            </a:r>
            <a:r>
              <a:rPr lang="ko-KR" altLang="en-US" dirty="0"/>
              <a:t>원칙과 디자인 패턴을 통한 객체 지향 및 함수형 프로그래밍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Stream</a:t>
            </a:r>
            <a:r>
              <a:rPr lang="ko-KR" altLang="en-US" dirty="0"/>
              <a:t>을 사용한 배열 및 리스트 처리</a:t>
            </a:r>
            <a:r>
              <a:rPr lang="en-US" altLang="ko-KR" dirty="0"/>
              <a:t>, Optional</a:t>
            </a:r>
            <a:r>
              <a:rPr lang="ko-KR" altLang="en-US" dirty="0"/>
              <a:t>을 이용한 </a:t>
            </a:r>
            <a:r>
              <a:rPr lang="en-US" altLang="ko-KR" dirty="0"/>
              <a:t>Null Guarding </a:t>
            </a:r>
            <a:r>
              <a:rPr lang="ko-KR" altLang="en-US" dirty="0"/>
              <a:t>코딩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Spring Boot</a:t>
            </a:r>
            <a:r>
              <a:rPr lang="en-US" altLang="ko-KR" dirty="0"/>
              <a:t>: JPA </a:t>
            </a:r>
            <a:r>
              <a:rPr lang="ko-KR" altLang="en-US" dirty="0"/>
              <a:t>사용한 </a:t>
            </a:r>
            <a:r>
              <a:rPr lang="en-US" altLang="ko-KR" dirty="0"/>
              <a:t>DB CRUD </a:t>
            </a:r>
            <a:r>
              <a:rPr lang="ko-KR" altLang="en-US" dirty="0"/>
              <a:t>및 관리</a:t>
            </a:r>
            <a:r>
              <a:rPr lang="en-US" altLang="ko-KR" dirty="0"/>
              <a:t>, MVC </a:t>
            </a:r>
            <a:r>
              <a:rPr lang="ko-KR" altLang="en-US" dirty="0"/>
              <a:t>패턴 및 </a:t>
            </a:r>
            <a:r>
              <a:rPr lang="en-US" altLang="ko-KR" dirty="0"/>
              <a:t>3-Layer Architecture </a:t>
            </a:r>
            <a:r>
              <a:rPr lang="ko-KR" altLang="en-US" dirty="0"/>
              <a:t>감안한 </a:t>
            </a:r>
            <a:r>
              <a:rPr lang="en-US" altLang="ko-KR" dirty="0"/>
              <a:t>API </a:t>
            </a:r>
            <a:r>
              <a:rPr lang="ko-KR" altLang="en-US" dirty="0"/>
              <a:t>설계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QueryMethod</a:t>
            </a:r>
            <a:r>
              <a:rPr lang="en-US" altLang="ko-KR" dirty="0"/>
              <a:t> </a:t>
            </a:r>
            <a:r>
              <a:rPr lang="ko-KR" altLang="en-US" dirty="0"/>
              <a:t>및 </a:t>
            </a:r>
            <a:r>
              <a:rPr lang="en-US" altLang="ko-KR" dirty="0"/>
              <a:t>Native Query</a:t>
            </a:r>
            <a:r>
              <a:rPr lang="ko-KR" altLang="en-US" dirty="0"/>
              <a:t>를 통한 </a:t>
            </a:r>
            <a:r>
              <a:rPr lang="en-US" altLang="ko-KR" dirty="0"/>
              <a:t>DB CRUD. Projection </a:t>
            </a:r>
            <a:r>
              <a:rPr lang="ko-KR" altLang="en-US" dirty="0"/>
              <a:t>사용을 통한 쿼리 최적화 진행</a:t>
            </a:r>
            <a:r>
              <a:rPr lang="en-US" altLang="ko-KR" dirty="0"/>
              <a:t>.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ResponseEntity</a:t>
            </a:r>
            <a:r>
              <a:rPr lang="en-US" altLang="ko-KR" dirty="0"/>
              <a:t> </a:t>
            </a:r>
            <a:r>
              <a:rPr lang="ko-KR" altLang="en-US" dirty="0"/>
              <a:t>커스텀을 통한 응답 메시지 최적화</a:t>
            </a:r>
            <a:r>
              <a:rPr lang="en-US" altLang="ko-KR" dirty="0"/>
              <a:t>. Facade </a:t>
            </a:r>
            <a:r>
              <a:rPr lang="ko-KR" altLang="en-US" dirty="0"/>
              <a:t>패턴을 통한 </a:t>
            </a:r>
            <a:r>
              <a:rPr lang="en-US" altLang="ko-KR" dirty="0"/>
              <a:t>3-Layer </a:t>
            </a:r>
            <a:r>
              <a:rPr lang="ko-KR" altLang="en-US" dirty="0"/>
              <a:t>확장 설계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 err="1"/>
              <a:t>Andorid</a:t>
            </a:r>
            <a:r>
              <a:rPr lang="en-US" altLang="ko-KR" dirty="0"/>
              <a:t>: Life Cycle </a:t>
            </a:r>
            <a:r>
              <a:rPr lang="ko-KR" altLang="en-US" dirty="0"/>
              <a:t>고려한 앱 개발 및 </a:t>
            </a:r>
            <a:r>
              <a:rPr lang="en-US" altLang="ko-KR" dirty="0"/>
              <a:t>Glide, KNOX </a:t>
            </a:r>
            <a:r>
              <a:rPr lang="ko-KR" altLang="en-US" dirty="0"/>
              <a:t>같은 라이브러리를 통한 개발 및 유지 보수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PlayStore</a:t>
            </a:r>
            <a:r>
              <a:rPr lang="en-US" altLang="ko-KR" dirty="0"/>
              <a:t> </a:t>
            </a:r>
            <a:r>
              <a:rPr lang="ko-KR" altLang="en-US" dirty="0"/>
              <a:t>업데이트 및 의견 제출을 통한 앱 민감 권한 사용 유지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/>
              <a:t>KNOX(Samsung), </a:t>
            </a:r>
            <a:r>
              <a:rPr lang="ko-KR" altLang="en-US" dirty="0"/>
              <a:t>백신 </a:t>
            </a:r>
            <a:r>
              <a:rPr lang="en-US" altLang="ko-KR" dirty="0"/>
              <a:t>MSDK(</a:t>
            </a:r>
            <a:r>
              <a:rPr lang="ko-KR" altLang="en-US" dirty="0" err="1"/>
              <a:t>안랩</a:t>
            </a:r>
            <a:r>
              <a:rPr lang="en-US" altLang="ko-KR" dirty="0"/>
              <a:t>)</a:t>
            </a:r>
            <a:r>
              <a:rPr lang="ko-KR" altLang="en-US" dirty="0"/>
              <a:t>을 통한 외부 회사의 라이브러리 사용 및 협업 경험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ko-KR" b="1" dirty="0"/>
              <a:t>C# - ASP.NET</a:t>
            </a:r>
            <a:r>
              <a:rPr lang="en-US" altLang="ko-KR" dirty="0"/>
              <a:t>: 10</a:t>
            </a:r>
            <a:r>
              <a:rPr lang="ko-KR" altLang="en-US" dirty="0"/>
              <a:t>개월 간의 서버 이전 프로젝트 및 </a:t>
            </a:r>
            <a:r>
              <a:rPr lang="en-US" altLang="ko-KR" dirty="0"/>
              <a:t>1</a:t>
            </a:r>
            <a:r>
              <a:rPr lang="ko-KR" altLang="en-US" dirty="0"/>
              <a:t>년 간의 </a:t>
            </a:r>
            <a:r>
              <a:rPr lang="en-US" altLang="ko-KR" dirty="0"/>
              <a:t>ASP, ASP.NET</a:t>
            </a:r>
            <a:r>
              <a:rPr lang="ko-KR" altLang="en-US" dirty="0"/>
              <a:t> 서비스 유지 보수 경험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DBMS </a:t>
            </a:r>
            <a:r>
              <a:rPr lang="ko-KR" altLang="en-US" dirty="0"/>
              <a:t>변경 이슈로 </a:t>
            </a:r>
            <a:r>
              <a:rPr lang="en-US" altLang="ko-KR" dirty="0" err="1"/>
              <a:t>SqlHelper</a:t>
            </a:r>
            <a:r>
              <a:rPr lang="en-US" altLang="ko-KR" dirty="0"/>
              <a:t> </a:t>
            </a:r>
            <a:r>
              <a:rPr lang="ko-KR" altLang="en-US" dirty="0"/>
              <a:t>라이브러리를 사용한 로직을 </a:t>
            </a:r>
            <a:r>
              <a:rPr lang="en-US" altLang="ko-KR" dirty="0"/>
              <a:t>ODBC </a:t>
            </a:r>
            <a:r>
              <a:rPr lang="ko-KR" altLang="en-US" dirty="0"/>
              <a:t>드라이버 라이브러리로 교체</a:t>
            </a:r>
            <a:r>
              <a:rPr lang="en-US" altLang="ko-KR" dirty="0"/>
              <a:t>.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로직에 영향을 주지 않고 </a:t>
            </a:r>
            <a:r>
              <a:rPr lang="en-US" altLang="ko-KR" dirty="0"/>
              <a:t>RDBMS </a:t>
            </a:r>
            <a:r>
              <a:rPr lang="ko-KR" altLang="en-US" dirty="0"/>
              <a:t>변경이 가능하도록 </a:t>
            </a:r>
            <a:r>
              <a:rPr lang="en-US" altLang="ko-KR" dirty="0"/>
              <a:t>2~300</a:t>
            </a:r>
            <a:r>
              <a:rPr lang="ko-KR" altLang="en-US" dirty="0"/>
              <a:t>라인만으로 적용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4000</a:t>
            </a:r>
            <a:r>
              <a:rPr lang="ko-KR" altLang="en-US" dirty="0"/>
              <a:t>줄 가량의 </a:t>
            </a:r>
            <a:r>
              <a:rPr lang="en-US" altLang="ko-KR" dirty="0"/>
              <a:t>ASP.NET</a:t>
            </a:r>
            <a:r>
              <a:rPr lang="ko-KR" altLang="en-US" dirty="0"/>
              <a:t> 코드 분석과 </a:t>
            </a:r>
            <a:r>
              <a:rPr lang="en-US" altLang="ko-KR" dirty="0"/>
              <a:t>AWS </a:t>
            </a:r>
            <a:r>
              <a:rPr lang="ko-KR" altLang="en-US" dirty="0"/>
              <a:t>동작 원리 이해로 </a:t>
            </a:r>
            <a:r>
              <a:rPr lang="en-US" altLang="ko-KR" dirty="0"/>
              <a:t>Spring Boot </a:t>
            </a:r>
            <a:r>
              <a:rPr lang="ko-KR" altLang="en-US" dirty="0"/>
              <a:t>전환 시 도움</a:t>
            </a:r>
            <a:endParaRPr lang="en-US" altLang="ko-KR" dirty="0"/>
          </a:p>
          <a:p>
            <a:pPr lvl="2"/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기타 </a:t>
            </a:r>
            <a:r>
              <a:rPr lang="en-US" altLang="ko-KR" dirty="0"/>
              <a:t>: JavaScript - React, asp, Kotlin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BBCED1-B18E-E1AA-30D2-59C7FF3EA7D4}"/>
              </a:ext>
            </a:extLst>
          </p:cNvPr>
          <p:cNvSpPr txBox="1"/>
          <p:nvPr/>
        </p:nvSpPr>
        <p:spPr>
          <a:xfrm>
            <a:off x="1120556" y="1516357"/>
            <a:ext cx="67607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  <a:latin typeface="Apple Color Emoji"/>
              </a:rPr>
              <a:t>🛠️ </a:t>
            </a:r>
            <a:r>
              <a:rPr lang="en-US" altLang="ko-KR" sz="2400" b="1" dirty="0">
                <a:effectLst/>
              </a:rPr>
              <a:t>Java</a:t>
            </a:r>
            <a:r>
              <a:rPr lang="en-US" altLang="ko-KR" sz="2400" dirty="0">
                <a:effectLst/>
              </a:rPr>
              <a:t> - Android, Spring Boot | </a:t>
            </a:r>
            <a:r>
              <a:rPr lang="en-US" altLang="ko-KR" sz="2400" b="1" dirty="0">
                <a:effectLst/>
              </a:rPr>
              <a:t>C#</a:t>
            </a:r>
            <a:r>
              <a:rPr lang="en-US" altLang="ko-KR" sz="2400" dirty="0">
                <a:effectLst/>
              </a:rPr>
              <a:t> - ASP.NET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5083F2C-C6E6-CF1C-1C8C-FFFC73370F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155465" y="3126129"/>
            <a:ext cx="1504950" cy="135255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CDC77DD3-0C3C-213D-C1C6-46B5F139D80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62462" y="4088729"/>
            <a:ext cx="1504950" cy="150495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43A674D-C9DB-6C08-3ECB-0DF445E66AD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1" y="5172407"/>
            <a:ext cx="1219200" cy="12192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3C77E932-E4EB-91B8-E9BB-F207B0A00758}"/>
              </a:ext>
            </a:extLst>
          </p:cNvPr>
          <p:cNvSpPr/>
          <p:nvPr/>
        </p:nvSpPr>
        <p:spPr>
          <a:xfrm>
            <a:off x="10941269" y="1978022"/>
            <a:ext cx="2816772" cy="4780130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229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275E3-0551-870C-47D3-4BD2B4E3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3828BAD-E2CF-3575-6ED4-C7EDE3DFB0F1}"/>
              </a:ext>
            </a:extLst>
          </p:cNvPr>
          <p:cNvSpPr/>
          <p:nvPr/>
        </p:nvSpPr>
        <p:spPr>
          <a:xfrm>
            <a:off x="1140380" y="1443631"/>
            <a:ext cx="741384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BB0D444-C711-DEBB-E738-212A97E9950A}"/>
              </a:ext>
            </a:extLst>
          </p:cNvPr>
          <p:cNvGrpSpPr/>
          <p:nvPr/>
        </p:nvGrpSpPr>
        <p:grpSpPr>
          <a:xfrm>
            <a:off x="11153488" y="2234046"/>
            <a:ext cx="2173026" cy="1143120"/>
            <a:chOff x="11153488" y="2234046"/>
            <a:chExt cx="2173026" cy="1143120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0AB387F6-E520-0891-8075-772831019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7335"/>
            <a:stretch/>
          </p:blipFill>
          <p:spPr>
            <a:xfrm>
              <a:off x="11153488" y="2234046"/>
              <a:ext cx="2173026" cy="1143120"/>
            </a:xfrm>
            <a:prstGeom prst="rect">
              <a:avLst/>
            </a:prstGeom>
            <a:ln>
              <a:solidFill>
                <a:srgbClr val="3A75B0"/>
              </a:solidFill>
            </a:ln>
          </p:spPr>
        </p:pic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E8786870-3F00-B977-41DB-A32ACBFF83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53488" y="2265657"/>
              <a:ext cx="2173026" cy="1086513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B5C8863-8DDA-E9B2-148D-45F40B90E01C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7B5AF"/>
                </a:solidFill>
              </a:rPr>
              <a:t>Skills / </a:t>
            </a:r>
            <a:r>
              <a:rPr lang="en-US" altLang="ko-KR" sz="4000" b="1" dirty="0">
                <a:solidFill>
                  <a:srgbClr val="57B5AF"/>
                </a:solidFill>
                <a:effectLst/>
              </a:rPr>
              <a:t>Infrastructure</a:t>
            </a:r>
            <a:endParaRPr lang="ko-KR" altLang="en-US" sz="4000" b="1" dirty="0">
              <a:solidFill>
                <a:srgbClr val="57B5A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95678D-B775-6B22-0395-6537D1588E9C}"/>
              </a:ext>
            </a:extLst>
          </p:cNvPr>
          <p:cNvSpPr txBox="1"/>
          <p:nvPr/>
        </p:nvSpPr>
        <p:spPr>
          <a:xfrm>
            <a:off x="1120555" y="2234046"/>
            <a:ext cx="1023504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Window Server (On-Premise, Cloud)</a:t>
            </a:r>
            <a:r>
              <a:rPr lang="en-US" altLang="ko-KR" dirty="0"/>
              <a:t>: Window Server </a:t>
            </a:r>
            <a:r>
              <a:rPr lang="ko-KR" altLang="en-US" dirty="0"/>
              <a:t>및 </a:t>
            </a:r>
            <a:r>
              <a:rPr lang="en-US" altLang="ko-KR" dirty="0"/>
              <a:t>IIS </a:t>
            </a:r>
            <a:r>
              <a:rPr lang="ko-KR" altLang="en-US" dirty="0"/>
              <a:t>운용 경험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서버 관리 및 보안 패치 적용을 통한 서버 유지 보수 업무 진행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구버전의 </a:t>
            </a:r>
            <a:r>
              <a:rPr lang="en-US" altLang="ko-KR" b="1" dirty="0">
                <a:effectLst/>
              </a:rPr>
              <a:t>Window Server (2002 R2)</a:t>
            </a:r>
            <a:r>
              <a:rPr lang="ko-KR" altLang="en-US" dirty="0"/>
              <a:t> 에서 </a:t>
            </a:r>
            <a:r>
              <a:rPr lang="ko-KR" altLang="en-US" b="1" dirty="0">
                <a:effectLst/>
              </a:rPr>
              <a:t>최근 버전의 </a:t>
            </a:r>
            <a:r>
              <a:rPr lang="en-US" altLang="ko-KR" b="1" dirty="0">
                <a:effectLst/>
              </a:rPr>
              <a:t>Window Server(2016)</a:t>
            </a:r>
            <a:r>
              <a:rPr lang="ko-KR" altLang="en-US" dirty="0">
                <a:effectLst/>
              </a:rPr>
              <a:t>으</a:t>
            </a:r>
            <a:r>
              <a:rPr lang="ko-KR" altLang="en-US" dirty="0"/>
              <a:t>로</a:t>
            </a:r>
            <a:br>
              <a:rPr lang="en-US" altLang="ko-KR" dirty="0"/>
            </a:br>
            <a:r>
              <a:rPr lang="ko-KR" altLang="en-US" b="1" dirty="0"/>
              <a:t>이전 작업 프로젝트</a:t>
            </a:r>
            <a:r>
              <a:rPr lang="ko-KR" altLang="en-US" dirty="0"/>
              <a:t> 경험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Linux (Cloud)</a:t>
            </a:r>
            <a:r>
              <a:rPr lang="en-US" altLang="ko-KR" dirty="0"/>
              <a:t>: </a:t>
            </a:r>
            <a:r>
              <a:rPr lang="ko-KR" altLang="en-US" dirty="0"/>
              <a:t>리눅스의 기본 명령어 사용 및 리눅스 기본 트리 구조 및 파일 시스템에 대한 이해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 err="1"/>
              <a:t>NginX</a:t>
            </a:r>
            <a:r>
              <a:rPr lang="ko-KR" altLang="en-US" b="1" dirty="0"/>
              <a:t>를 통한 </a:t>
            </a:r>
            <a:r>
              <a:rPr lang="en-US" altLang="ko-KR" b="1" dirty="0"/>
              <a:t>Frontend Web Server </a:t>
            </a:r>
            <a:r>
              <a:rPr lang="ko-KR" altLang="en-US" b="1" dirty="0"/>
              <a:t>구동</a:t>
            </a:r>
            <a:r>
              <a:rPr lang="ko-KR" altLang="en-US" dirty="0"/>
              <a:t> 가능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AWS(Cloud)</a:t>
            </a:r>
            <a:r>
              <a:rPr lang="en-US" altLang="ko-KR" dirty="0"/>
              <a:t>: VPC</a:t>
            </a:r>
            <a:r>
              <a:rPr lang="ko-KR" altLang="en-US" dirty="0"/>
              <a:t>를 시작으로 전반적인 서버 설계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라우팅 테이블과 인터넷 게이트웨이를 이용한 </a:t>
            </a:r>
            <a:r>
              <a:rPr lang="en-US" altLang="ko-KR" dirty="0"/>
              <a:t>EC2 </a:t>
            </a:r>
            <a:r>
              <a:rPr lang="ko-KR" altLang="en-US" dirty="0"/>
              <a:t>인스턴스의 외부 통신</a:t>
            </a:r>
            <a:r>
              <a:rPr lang="en-US" altLang="ko-KR" dirty="0"/>
              <a:t> </a:t>
            </a:r>
            <a:r>
              <a:rPr lang="ko-KR" altLang="en-US" dirty="0"/>
              <a:t>구조 설계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ACM, ALB</a:t>
            </a:r>
            <a:r>
              <a:rPr lang="ko-KR" altLang="en-US" dirty="0"/>
              <a:t>를 사용한 </a:t>
            </a:r>
            <a:r>
              <a:rPr lang="en-US" altLang="ko-KR" b="1" dirty="0"/>
              <a:t>https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br>
              <a:rPr lang="en-US" altLang="ko-KR" dirty="0"/>
            </a:br>
            <a:r>
              <a:rPr lang="en-US" altLang="ko-KR" b="1" dirty="0"/>
              <a:t>Cloud Watch</a:t>
            </a:r>
            <a:r>
              <a:rPr lang="ko-KR" altLang="en-US" dirty="0"/>
              <a:t> 기반 서버 로그 수집 및 모니터링 환경 구성</a:t>
            </a:r>
            <a:br>
              <a:rPr lang="en-US" altLang="ko-KR" dirty="0"/>
            </a:br>
            <a:r>
              <a:rPr lang="en-US" altLang="ko-KR" dirty="0"/>
              <a:t>RDS </a:t>
            </a:r>
            <a:r>
              <a:rPr lang="ko-KR" altLang="en-US" dirty="0"/>
              <a:t>보안을 위한 </a:t>
            </a:r>
            <a:r>
              <a:rPr lang="en-US" altLang="ko-KR" b="1" dirty="0"/>
              <a:t>private subnet </a:t>
            </a:r>
            <a:r>
              <a:rPr lang="ko-KR" altLang="en-US" dirty="0"/>
              <a:t>및</a:t>
            </a:r>
            <a:r>
              <a:rPr lang="ko-KR" altLang="en-US" b="1" dirty="0"/>
              <a:t> </a:t>
            </a:r>
            <a:r>
              <a:rPr lang="en-US" altLang="ko-KR" b="1" dirty="0"/>
              <a:t>Bastion </a:t>
            </a:r>
            <a:r>
              <a:rPr lang="ko-KR" altLang="en-US" b="1" dirty="0"/>
              <a:t>호스트 </a:t>
            </a:r>
            <a:r>
              <a:rPr lang="ko-KR" altLang="en-US" dirty="0"/>
              <a:t>구성</a:t>
            </a:r>
            <a:endParaRPr lang="en-US" altLang="ko-K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6D3D8-E01F-CB70-7737-4ACA3C0A3965}"/>
              </a:ext>
            </a:extLst>
          </p:cNvPr>
          <p:cNvSpPr txBox="1"/>
          <p:nvPr/>
        </p:nvSpPr>
        <p:spPr>
          <a:xfrm>
            <a:off x="1120555" y="1516357"/>
            <a:ext cx="7413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  <a:latin typeface="Apple Color Emoji"/>
              </a:rPr>
              <a:t>🛠️ </a:t>
            </a:r>
            <a:r>
              <a:rPr lang="en-US" altLang="ko-KR" sz="2400" b="1" dirty="0"/>
              <a:t>On-Premise</a:t>
            </a:r>
            <a:r>
              <a:rPr lang="en-US" altLang="ko-KR" sz="2400" dirty="0"/>
              <a:t>(Window Server, Linux), </a:t>
            </a:r>
            <a:r>
              <a:rPr lang="en-US" altLang="ko-KR" sz="2400" b="1" dirty="0"/>
              <a:t>Cloud</a:t>
            </a:r>
            <a:r>
              <a:rPr lang="en-US" altLang="ko-KR" sz="2400" dirty="0"/>
              <a:t>(AWS)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A903D5A-445A-A020-A487-EA94B039C3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5465" y="3126129"/>
            <a:ext cx="1504950" cy="135255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8DE821AF-FB9B-B8EC-1DB2-65B55CD430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062462" y="4088729"/>
            <a:ext cx="1504950" cy="150495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85EAE2F-710E-5F01-C759-C702E48990F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1" y="5172407"/>
            <a:ext cx="1219200" cy="12192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65B1D6D8-5D6F-08D8-3C27-F3D4C1EB62E9}"/>
              </a:ext>
            </a:extLst>
          </p:cNvPr>
          <p:cNvSpPr/>
          <p:nvPr/>
        </p:nvSpPr>
        <p:spPr>
          <a:xfrm>
            <a:off x="10941269" y="1978022"/>
            <a:ext cx="2816772" cy="4780130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03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86A6-E972-B946-50CC-0AF042CE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74EF644-1277-F9C3-87E4-2D173A424397}"/>
              </a:ext>
            </a:extLst>
          </p:cNvPr>
          <p:cNvSpPr/>
          <p:nvPr/>
        </p:nvSpPr>
        <p:spPr>
          <a:xfrm>
            <a:off x="1140380" y="1443631"/>
            <a:ext cx="741384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399AFEC-4B42-CE11-74AC-A559613914C7}"/>
              </a:ext>
            </a:extLst>
          </p:cNvPr>
          <p:cNvGrpSpPr/>
          <p:nvPr/>
        </p:nvGrpSpPr>
        <p:grpSpPr>
          <a:xfrm>
            <a:off x="11153488" y="2234046"/>
            <a:ext cx="2173026" cy="1143120"/>
            <a:chOff x="11153488" y="2234046"/>
            <a:chExt cx="2173026" cy="1143120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14CEA7FE-1B8C-6FB9-ABEB-8E9D53E39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7335"/>
            <a:stretch/>
          </p:blipFill>
          <p:spPr>
            <a:xfrm>
              <a:off x="11153488" y="2234046"/>
              <a:ext cx="2173026" cy="1143120"/>
            </a:xfrm>
            <a:prstGeom prst="rect">
              <a:avLst/>
            </a:prstGeom>
            <a:ln>
              <a:solidFill>
                <a:srgbClr val="3A75B0"/>
              </a:solidFill>
            </a:ln>
          </p:spPr>
        </p:pic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7BD50618-B8C6-97E7-BAA7-750FCB0429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53488" y="2265657"/>
              <a:ext cx="2173026" cy="1086513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56D3A03B-6F32-978D-C14E-D5779354EE97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7B5AF"/>
                </a:solidFill>
              </a:rPr>
              <a:t>Skills / Databases </a:t>
            </a:r>
            <a:r>
              <a:rPr lang="ko-KR" altLang="en-US" sz="4000" b="1" dirty="0">
                <a:solidFill>
                  <a:srgbClr val="57B5AF"/>
                </a:solidFill>
              </a:rPr>
              <a:t>및 기타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A4CFC-465C-15F4-496E-A66E61F9D8A9}"/>
              </a:ext>
            </a:extLst>
          </p:cNvPr>
          <p:cNvSpPr txBox="1"/>
          <p:nvPr/>
        </p:nvSpPr>
        <p:spPr>
          <a:xfrm>
            <a:off x="1120555" y="2234046"/>
            <a:ext cx="102350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Oracle</a:t>
            </a:r>
            <a:r>
              <a:rPr lang="en-US" altLang="ko-KR" dirty="0"/>
              <a:t>: SQL </a:t>
            </a:r>
            <a:r>
              <a:rPr lang="ko-KR" altLang="en-US" dirty="0"/>
              <a:t>작성 및 </a:t>
            </a:r>
            <a:r>
              <a:rPr lang="en-US" altLang="ko-KR" dirty="0"/>
              <a:t>PL/SQL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작성 및 유지 보수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유저 별 권한 부여 및 테이블 스페이스 할당을 통한 데이터베이스 생성 및 이용 가능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Trigger </a:t>
            </a:r>
            <a:r>
              <a:rPr lang="ko-KR" altLang="en-US" dirty="0"/>
              <a:t>및 </a:t>
            </a:r>
            <a:r>
              <a:rPr lang="en-US" altLang="ko-KR" dirty="0"/>
              <a:t>Scheduler </a:t>
            </a:r>
            <a:r>
              <a:rPr lang="ko-KR" altLang="en-US" dirty="0"/>
              <a:t>같은 </a:t>
            </a:r>
            <a:r>
              <a:rPr lang="en-US" altLang="ko-KR" dirty="0"/>
              <a:t>DBMS </a:t>
            </a:r>
            <a:r>
              <a:rPr lang="ko-KR" altLang="en-US" dirty="0"/>
              <a:t>기능 이용을 통한 다양한 비즈니스 로직 구상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SQL Server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서버 이전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SQL Server</a:t>
            </a:r>
            <a:r>
              <a:rPr lang="en-US" altLang="ko-KR" dirty="0"/>
              <a:t>: SQL </a:t>
            </a:r>
            <a:r>
              <a:rPr lang="ko-KR" altLang="en-US" dirty="0"/>
              <a:t>작성 및 </a:t>
            </a:r>
            <a:r>
              <a:rPr lang="en-US" altLang="ko-KR" dirty="0"/>
              <a:t>T-SQL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흐름 파악 및 유지 보수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데이터 파일 및 로그 파일 관리 및 </a:t>
            </a:r>
            <a:r>
              <a:rPr lang="en-US" altLang="ko-KR" dirty="0"/>
              <a:t>Scheduler</a:t>
            </a:r>
            <a:r>
              <a:rPr lang="ko-KR" altLang="en-US" dirty="0"/>
              <a:t>를 통한 주기적인 </a:t>
            </a:r>
            <a:r>
              <a:rPr lang="en-US" altLang="ko-KR" dirty="0"/>
              <a:t>DB </a:t>
            </a:r>
            <a:r>
              <a:rPr lang="ko-KR" altLang="en-US" dirty="0"/>
              <a:t>백업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MySQL</a:t>
            </a:r>
            <a:r>
              <a:rPr lang="en-US" altLang="ko-KR" dirty="0"/>
              <a:t>: AWS RDS</a:t>
            </a:r>
            <a:r>
              <a:rPr lang="ko-KR" altLang="en-US" dirty="0"/>
              <a:t>를 통한 </a:t>
            </a:r>
            <a:r>
              <a:rPr lang="en-US" altLang="ko-KR" dirty="0"/>
              <a:t>MySQL </a:t>
            </a:r>
            <a:r>
              <a:rPr lang="ko-KR" altLang="en-US" dirty="0"/>
              <a:t>접근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쿼리문</a:t>
            </a:r>
            <a:r>
              <a:rPr lang="ko-KR" altLang="en-US" dirty="0"/>
              <a:t> 작성을 통한 </a:t>
            </a:r>
            <a:r>
              <a:rPr lang="en-US" altLang="ko-KR" dirty="0"/>
              <a:t>CRUD </a:t>
            </a:r>
            <a:r>
              <a:rPr lang="ko-KR" altLang="en-US" dirty="0"/>
              <a:t>및 인덱싱과 </a:t>
            </a:r>
            <a:r>
              <a:rPr lang="ko-KR" altLang="en-US" dirty="0" err="1"/>
              <a:t>쿼리문</a:t>
            </a:r>
            <a:r>
              <a:rPr lang="ko-KR" altLang="en-US" dirty="0"/>
              <a:t> 최적화를 통한 응답시간 감소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기타</a:t>
            </a:r>
            <a:r>
              <a:rPr lang="en-US" altLang="ko-KR" dirty="0"/>
              <a:t>: Docker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Actions </a:t>
            </a:r>
            <a:r>
              <a:rPr lang="ko-KR" altLang="en-US" dirty="0"/>
              <a:t>을 활용한 </a:t>
            </a:r>
            <a:r>
              <a:rPr lang="en-US" altLang="ko-KR" dirty="0"/>
              <a:t>CI/CD </a:t>
            </a:r>
            <a:r>
              <a:rPr lang="ko-KR" altLang="en-US" dirty="0"/>
              <a:t>파이프라인 자동화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Git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를 사용한 코드 산출물 버전 관리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CC3845-16C1-F0A7-8178-9CEC9807ADB4}"/>
              </a:ext>
            </a:extLst>
          </p:cNvPr>
          <p:cNvSpPr txBox="1"/>
          <p:nvPr/>
        </p:nvSpPr>
        <p:spPr>
          <a:xfrm>
            <a:off x="1120555" y="1516357"/>
            <a:ext cx="719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  <a:latin typeface="Apple Color Emoji"/>
              </a:rPr>
              <a:t>🛠️ </a:t>
            </a:r>
            <a:r>
              <a:rPr lang="en-US" altLang="ko-KR" sz="2400" b="1" dirty="0"/>
              <a:t>Oracle, SQL Server, MySQL / Docker, </a:t>
            </a:r>
            <a:r>
              <a:rPr lang="en-US" altLang="ko-KR" sz="2400" b="1" dirty="0" err="1"/>
              <a:t>Github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69B50FF-F99A-0EA4-527D-E60227D6FE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5465" y="3126129"/>
            <a:ext cx="1504950" cy="135255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705CFF36-9176-7781-4251-C3F18069963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062462" y="4088729"/>
            <a:ext cx="1504950" cy="150495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7C906498-96E9-F608-D99A-3A38332C5C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0001" y="5172407"/>
            <a:ext cx="1219200" cy="1219200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3D37EC2E-C2B3-EE75-9E00-8FB00E3542A8}"/>
              </a:ext>
            </a:extLst>
          </p:cNvPr>
          <p:cNvSpPr/>
          <p:nvPr/>
        </p:nvSpPr>
        <p:spPr>
          <a:xfrm>
            <a:off x="10941269" y="1978022"/>
            <a:ext cx="2816772" cy="4780130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0672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SUIT Variable Medium"/>
        <a:ea typeface="SUIT Variable Medium"/>
        <a:cs typeface=""/>
      </a:majorFont>
      <a:minorFont>
        <a:latin typeface="SUIT Variable"/>
        <a:ea typeface="SUIT Variable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132</TotalTime>
  <Words>625</Words>
  <Application>Microsoft Office PowerPoint</Application>
  <PresentationFormat>사용자 지정</PresentationFormat>
  <Paragraphs>61</Paragraphs>
  <Slides>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Apple Color Emoji</vt:lpstr>
      <vt:lpstr>SUIT Variable</vt:lpstr>
      <vt:lpstr>SUIT Variable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daejin mun</dc:creator>
  <cp:lastModifiedBy>daejin mun</cp:lastModifiedBy>
  <cp:revision>10</cp:revision>
  <dcterms:created xsi:type="dcterms:W3CDTF">2025-02-04T07:41:41Z</dcterms:created>
  <dcterms:modified xsi:type="dcterms:W3CDTF">2025-05-06T07:59:29Z</dcterms:modified>
</cp:coreProperties>
</file>