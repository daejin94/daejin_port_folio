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4" r:id="rId8"/>
    <p:sldId id="263" r:id="rId9"/>
    <p:sldId id="266" r:id="rId10"/>
    <p:sldId id="262" r:id="rId11"/>
    <p:sldId id="267" r:id="rId12"/>
  </p:sldIdLst>
  <p:sldSz cx="14257338" cy="8020050"/>
  <p:notesSz cx="6858000" cy="9144000"/>
  <p:embeddedFontLst>
    <p:embeddedFont>
      <p:font typeface="SUIT Variable" pitchFamily="2" charset="-127"/>
      <p:regular r:id="rId15"/>
      <p:bold r:id="rId16"/>
    </p:embeddedFont>
    <p:embeddedFont>
      <p:font typeface="SUIT Variable ExtraBold" pitchFamily="2" charset="-127"/>
      <p:bold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8D4E"/>
    <a:srgbClr val="80AF81"/>
    <a:srgbClr val="1A5319"/>
    <a:srgbClr val="2B9773"/>
    <a:srgbClr val="447B7E"/>
    <a:srgbClr val="468260"/>
    <a:srgbClr val="3A75B0"/>
    <a:srgbClr val="57B5AF"/>
    <a:srgbClr val="252525"/>
    <a:srgbClr val="BEE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 autoAdjust="0"/>
    <p:restoredTop sz="94681" autoAdjust="0"/>
  </p:normalViewPr>
  <p:slideViewPr>
    <p:cSldViewPr snapToGrid="0">
      <p:cViewPr varScale="1">
        <p:scale>
          <a:sx n="92" d="100"/>
          <a:sy n="92" d="100"/>
        </p:scale>
        <p:origin x="82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C02A021-9EF5-3847-AA8A-10836C330B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FF8038-A495-F40E-BB9F-C2F4A9B8F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E6AFD-91E3-45AD-A05A-572BFF058F8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44C189-9C4F-A096-EBB1-B5049114A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791E3A-B62E-77E8-6758-024080DB36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5A9F2-EE39-4142-BEE3-5F3279CB6C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932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E417E-C2EC-425C-B420-CF724443A5AE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36961-299C-49BC-BC33-AA2CF7FEB5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4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36961-299C-49BC-BC33-AA2CF7FEB5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400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167" y="1312541"/>
            <a:ext cx="10693004" cy="2792166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167" y="4212383"/>
            <a:ext cx="10693004" cy="1936322"/>
          </a:xfrm>
        </p:spPr>
        <p:txBody>
          <a:bodyPr/>
          <a:lstStyle>
            <a:lvl1pPr marL="0" indent="0" algn="ctr">
              <a:buNone/>
              <a:defRPr sz="2807"/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1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1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766" y="1999444"/>
            <a:ext cx="12296954" cy="3336117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766" y="5367123"/>
            <a:ext cx="12296954" cy="1754385"/>
          </a:xfrm>
        </p:spPr>
        <p:txBody>
          <a:bodyPr/>
          <a:lstStyle>
            <a:lvl1pPr marL="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17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192" y="2134967"/>
            <a:ext cx="6059369" cy="5088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7777" y="2134967"/>
            <a:ext cx="6059369" cy="5088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82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49" y="426994"/>
            <a:ext cx="12296954" cy="1550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049" y="1966027"/>
            <a:ext cx="6031522" cy="963519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049" y="2929546"/>
            <a:ext cx="6031522" cy="4308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17777" y="1966027"/>
            <a:ext cx="6061226" cy="963519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17777" y="2929546"/>
            <a:ext cx="6061226" cy="4308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05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2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50" y="534670"/>
            <a:ext cx="4598362" cy="187134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1226" y="1154739"/>
            <a:ext cx="7217777" cy="5699434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050" y="2406015"/>
            <a:ext cx="4598362" cy="4457440"/>
          </a:xfr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33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50" y="534670"/>
            <a:ext cx="4598362" cy="187134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226" y="1154739"/>
            <a:ext cx="7217777" cy="5699434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050" y="2406015"/>
            <a:ext cx="4598362" cy="4457440"/>
          </a:xfr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0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81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2907" y="426993"/>
            <a:ext cx="3074239" cy="67966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0192" y="426993"/>
            <a:ext cx="9044499" cy="67966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03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0192" y="426994"/>
            <a:ext cx="12296954" cy="155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0192" y="2134967"/>
            <a:ext cx="12296954" cy="508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0192" y="7433399"/>
            <a:ext cx="3207901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2A79-3CD5-45FF-B4A2-CB727F17E6E3}" type="datetimeFigureOut">
              <a:rPr lang="ko-KR" altLang="en-US" smtClean="0"/>
              <a:t>2025-08-01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2743" y="7433399"/>
            <a:ext cx="4811852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69245" y="7433399"/>
            <a:ext cx="3207901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91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69299" rtl="0" eaLnBrk="1" latinLnBrk="1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25" indent="-267325" algn="l" defTabSz="1069299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75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33662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27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92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57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.notion.so/f/f/bc6d36ed-04f7-4131-9996-d9ef89865e34/f6175de4-22b7-47b1-bf9d-14c37eafefd7/ALYES_%EB%B0%9C%ED%91%9C%EC%9E%90%EB%A3%8C.pdf?table=block&amp;id=1c012a59-fa38-8123-b8b2-dc4aa3cedb12&amp;spaceId=bc6d36ed-04f7-4131-9996-d9ef89865e34&amp;expirationTimestamp=1743688800000&amp;signature=7WqQx-mF98m9jbov53mDxH9v_ZGWVM5X-z7GEPpEZ1o&amp;downloadName=ALYES+%EB%B0%9C%ED%91%9C%EC%9E%90%EB%A3%8Cpdf.pdf" TargetMode="External"/><Relationship Id="rId2" Type="http://schemas.openxmlformats.org/officeDocument/2006/relationships/hyperlink" Target="https://aaronryu.notion.site/14f2b2fcf42c80589e15c538ecfb990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aronryu.notion.site/" TargetMode="External"/><Relationship Id="rId4" Type="http://schemas.openxmlformats.org/officeDocument/2006/relationships/hyperlink" Target="https://www.notion.so/1cc12a59fa388046a519dbbb0213fc58?pvs=4#1eb12a59fa388093be6edca5b736d46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-ins.net/" TargetMode="External"/><Relationship Id="rId2" Type="http://schemas.openxmlformats.org/officeDocument/2006/relationships/hyperlink" Target="https://moneypin.biz/bizno/detail/8688603144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e012a59fa3880f2a8a6d373074676b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cc12a59fa38804b9f5ff918eeff8c2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d212a59fa3880839b6efb1ae1a8f0d7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1cc12a59fa388046a519dbbb0213fc58?pvs=4#1cc12a59fa3880c49474d7c1e4f9e3c2" TargetMode="External"/><Relationship Id="rId2" Type="http://schemas.openxmlformats.org/officeDocument/2006/relationships/hyperlink" Target="https://support.google.com/googleplay/android-developer/answer/11926878?hl=k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bx-mKfPKNs" TargetMode="External"/><Relationship Id="rId2" Type="http://schemas.openxmlformats.org/officeDocument/2006/relationships/hyperlink" Target="https://www.notion.so/1cc12a59fa388046a519dbbb0213fc58?pvs=4#1e512a59fa38800fa849c9170892f46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775BDF-20AD-D86C-3053-50526BEDF5B0}"/>
              </a:ext>
            </a:extLst>
          </p:cNvPr>
          <p:cNvSpPr/>
          <p:nvPr/>
        </p:nvSpPr>
        <p:spPr>
          <a:xfrm>
            <a:off x="4971396" y="1556049"/>
            <a:ext cx="8523942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5BAE1D-55F8-1197-A2DF-9FBBDF1C1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8775"/>
            <a:ext cx="3578757" cy="4762500"/>
          </a:xfrm>
          <a:prstGeom prst="roundRect">
            <a:avLst>
              <a:gd name="adj" fmla="val 26317"/>
            </a:avLst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319E8-A721-72C4-BBB0-C22656583289}"/>
              </a:ext>
            </a:extLst>
          </p:cNvPr>
          <p:cNvSpPr txBox="1"/>
          <p:nvPr/>
        </p:nvSpPr>
        <p:spPr>
          <a:xfrm>
            <a:off x="520995" y="564922"/>
            <a:ext cx="4060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508D4E"/>
                </a:solidFill>
              </a:rPr>
              <a:t>문대진 </a:t>
            </a:r>
            <a:r>
              <a:rPr lang="en-US" altLang="ko-KR" sz="4000" b="1" dirty="0">
                <a:solidFill>
                  <a:srgbClr val="508D4E"/>
                </a:solidFill>
              </a:rPr>
              <a:t>Portfolio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ACD85-82D5-168C-C714-69186C0D0439}"/>
              </a:ext>
            </a:extLst>
          </p:cNvPr>
          <p:cNvSpPr txBox="1"/>
          <p:nvPr/>
        </p:nvSpPr>
        <p:spPr>
          <a:xfrm>
            <a:off x="4951571" y="1628775"/>
            <a:ext cx="8892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dirty="0">
                <a:solidFill>
                  <a:srgbClr val="508D4E"/>
                </a:solidFill>
              </a:rPr>
              <a:t>💡 </a:t>
            </a:r>
            <a:r>
              <a:rPr lang="ko-KR" altLang="en-US" sz="2400" b="1" dirty="0">
                <a:solidFill>
                  <a:srgbClr val="508D4E"/>
                </a:solidFill>
              </a:rPr>
              <a:t>다양한 경험</a:t>
            </a:r>
            <a:r>
              <a:rPr lang="ko-KR" altLang="en-US" sz="2400" b="1" dirty="0"/>
              <a:t>을 바탕으로 </a:t>
            </a:r>
            <a:r>
              <a:rPr lang="ko-KR" altLang="en-US" sz="2400" b="1" dirty="0">
                <a:solidFill>
                  <a:srgbClr val="508D4E"/>
                </a:solidFill>
              </a:rPr>
              <a:t>튼튼한 비즈니스 로직을 설계하</a:t>
            </a:r>
            <a:r>
              <a:rPr lang="ko-KR" altLang="en-US" sz="2400" b="1" dirty="0"/>
              <a:t>는 개발자</a:t>
            </a:r>
            <a:endParaRPr lang="ko-KR" altLang="en-US" sz="23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51361-F773-C97A-D4C5-3DB0EF73BB00}"/>
              </a:ext>
            </a:extLst>
          </p:cNvPr>
          <p:cNvSpPr txBox="1"/>
          <p:nvPr/>
        </p:nvSpPr>
        <p:spPr>
          <a:xfrm>
            <a:off x="4951571" y="2316866"/>
            <a:ext cx="8301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🚩 </a:t>
            </a:r>
            <a:r>
              <a:rPr lang="en-US" altLang="ko-KR" sz="2200" b="1" dirty="0"/>
              <a:t>Contact me</a:t>
            </a:r>
            <a:endParaRPr lang="ko-KR" altLang="en-US" sz="2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D49BD-15C6-D122-3435-1E2FDD67B046}"/>
              </a:ext>
            </a:extLst>
          </p:cNvPr>
          <p:cNvSpPr txBox="1"/>
          <p:nvPr/>
        </p:nvSpPr>
        <p:spPr>
          <a:xfrm>
            <a:off x="5108027" y="2747753"/>
            <a:ext cx="511724" cy="170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📧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📞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effectLst/>
              </a:rPr>
              <a:t>👾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🔗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994823-E5DF-BDF0-ECD9-6CA0614FBEBF}"/>
              </a:ext>
            </a:extLst>
          </p:cNvPr>
          <p:cNvSpPr txBox="1"/>
          <p:nvPr/>
        </p:nvSpPr>
        <p:spPr>
          <a:xfrm>
            <a:off x="5696334" y="2747753"/>
            <a:ext cx="513955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eowls1358@gmail.com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010-5021-6864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https://github.com/daejin94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https://velog.io/@q1w2e3r4/posts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52077E-9821-BCE7-288E-E57B3F0728D7}"/>
              </a:ext>
            </a:extLst>
          </p:cNvPr>
          <p:cNvSpPr txBox="1"/>
          <p:nvPr/>
        </p:nvSpPr>
        <p:spPr>
          <a:xfrm>
            <a:off x="4951571" y="4670266"/>
            <a:ext cx="8301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🏫 </a:t>
            </a:r>
            <a:r>
              <a:rPr lang="en-US" altLang="ko-KR" sz="2200" b="1" dirty="0"/>
              <a:t>Education</a:t>
            </a:r>
            <a:endParaRPr lang="ko-KR" altLang="en-US" sz="2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28F81-E8CB-ED0E-2726-E95F919BD11E}"/>
              </a:ext>
            </a:extLst>
          </p:cNvPr>
          <p:cNvSpPr txBox="1"/>
          <p:nvPr/>
        </p:nvSpPr>
        <p:spPr>
          <a:xfrm>
            <a:off x="849981" y="6476154"/>
            <a:ext cx="34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Backend Developer</a:t>
            </a:r>
            <a:endParaRPr lang="ko-KR" alt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52106-A335-583C-2506-EAB31E345892}"/>
              </a:ext>
            </a:extLst>
          </p:cNvPr>
          <p:cNvSpPr txBox="1"/>
          <p:nvPr/>
        </p:nvSpPr>
        <p:spPr>
          <a:xfrm>
            <a:off x="5031444" y="5170712"/>
            <a:ext cx="66489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b="1" dirty="0"/>
              <a:t>1</a:t>
            </a:r>
            <a:r>
              <a:rPr lang="ko-KR" altLang="en-US" b="1" dirty="0"/>
              <a:t>년</a:t>
            </a:r>
            <a:endParaRPr lang="en-US" altLang="ko-KR" b="1" dirty="0"/>
          </a:p>
          <a:p>
            <a:pPr algn="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A8DBE5-C52C-F8C1-D354-DA1273133B88}"/>
              </a:ext>
            </a:extLst>
          </p:cNvPr>
          <p:cNvSpPr txBox="1"/>
          <p:nvPr/>
        </p:nvSpPr>
        <p:spPr>
          <a:xfrm>
            <a:off x="5696333" y="5170712"/>
            <a:ext cx="71158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신구대학교 </a:t>
            </a:r>
            <a:r>
              <a:rPr lang="en-US" altLang="ko-KR" b="1" dirty="0"/>
              <a:t>IT </a:t>
            </a:r>
            <a:r>
              <a:rPr lang="ko-KR" altLang="en-US" b="1" dirty="0"/>
              <a:t>미디어 학과 전공 심화 과정 </a:t>
            </a:r>
            <a:r>
              <a:rPr lang="en-US" altLang="ko-KR" b="1" dirty="0"/>
              <a:t>(</a:t>
            </a:r>
            <a:r>
              <a:rPr lang="ko-KR" altLang="en-US" b="1" dirty="0"/>
              <a:t>야간</a:t>
            </a:r>
            <a:r>
              <a:rPr lang="en-US" altLang="ko-KR" b="1" dirty="0"/>
              <a:t>)</a:t>
            </a:r>
            <a:r>
              <a:rPr lang="ko-KR" altLang="en-US" b="1" dirty="0"/>
              <a:t> 졸업 </a:t>
            </a:r>
            <a:r>
              <a:rPr lang="en-US" altLang="ko-KR" b="1" dirty="0"/>
              <a:t>(21.03 ~ (22.02)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신구대학교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IT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미디어 학과 졸업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(13.03 ~ 19.02)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경기 광주 중앙 고등학교 산업 기계과 졸업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(10.03 ~ 13.02)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316B8-2391-DC25-7B47-C800C6579980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BFB84B-41B0-CFCD-ACF3-0D052C455072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E213ED-D956-3143-796E-55E89CEE88A5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362E9B-0BD6-29EA-7A2A-8187524C69CF}"/>
              </a:ext>
            </a:extLst>
          </p:cNvPr>
          <p:cNvGrpSpPr/>
          <p:nvPr/>
        </p:nvGrpSpPr>
        <p:grpSpPr>
          <a:xfrm rot="10800000">
            <a:off x="-738187" y="7575223"/>
            <a:ext cx="8048131" cy="889653"/>
            <a:chOff x="-496887" y="7180870"/>
            <a:chExt cx="8048131" cy="88965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0274BA-C7D7-D4DA-8084-45FC3C7E098B}"/>
                </a:ext>
              </a:extLst>
            </p:cNvPr>
            <p:cNvSpPr/>
            <p:nvPr/>
          </p:nvSpPr>
          <p:spPr>
            <a:xfrm>
              <a:off x="-496887" y="7180870"/>
              <a:ext cx="3327400" cy="889653"/>
            </a:xfrm>
            <a:prstGeom prst="rect">
              <a:avLst/>
            </a:prstGeom>
            <a:solidFill>
              <a:srgbClr val="80AF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05C2AC-1259-5300-2731-2ACA21D7284F}"/>
                </a:ext>
              </a:extLst>
            </p:cNvPr>
            <p:cNvSpPr/>
            <p:nvPr/>
          </p:nvSpPr>
          <p:spPr>
            <a:xfrm>
              <a:off x="1668245" y="7180870"/>
              <a:ext cx="3327400" cy="889653"/>
            </a:xfrm>
            <a:prstGeom prst="rect">
              <a:avLst/>
            </a:prstGeom>
            <a:solidFill>
              <a:srgbClr val="508D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250AE2-9F62-5B89-D726-5C6755FFF93F}"/>
                </a:ext>
              </a:extLst>
            </p:cNvPr>
            <p:cNvSpPr/>
            <p:nvPr/>
          </p:nvSpPr>
          <p:spPr>
            <a:xfrm>
              <a:off x="4223844" y="7180870"/>
              <a:ext cx="3327400" cy="889653"/>
            </a:xfrm>
            <a:prstGeom prst="rect">
              <a:avLst/>
            </a:prstGeom>
            <a:solidFill>
              <a:srgbClr val="1A53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925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5FA05E-D3FF-35D2-A2BE-4886A17F0585}"/>
              </a:ext>
            </a:extLst>
          </p:cNvPr>
          <p:cNvSpPr/>
          <p:nvPr/>
        </p:nvSpPr>
        <p:spPr>
          <a:xfrm>
            <a:off x="1140380" y="1443631"/>
            <a:ext cx="7893865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5EB93E4-7584-D6BA-27BF-DC9B77BD8018}"/>
              </a:ext>
            </a:extLst>
          </p:cNvPr>
          <p:cNvGrpSpPr/>
          <p:nvPr/>
        </p:nvGrpSpPr>
        <p:grpSpPr>
          <a:xfrm>
            <a:off x="11435465" y="1978022"/>
            <a:ext cx="1440000" cy="1440000"/>
            <a:chOff x="11430113" y="1567466"/>
            <a:chExt cx="1440000" cy="144000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4F976B7-4E4A-8910-CD36-A7DC5D30C4C3}"/>
                </a:ext>
              </a:extLst>
            </p:cNvPr>
            <p:cNvSpPr/>
            <p:nvPr/>
          </p:nvSpPr>
          <p:spPr>
            <a:xfrm>
              <a:off x="11430113" y="1567466"/>
              <a:ext cx="1440000" cy="1440000"/>
            </a:xfrm>
            <a:prstGeom prst="ellipse">
              <a:avLst/>
            </a:prstGeom>
            <a:solidFill>
              <a:srgbClr val="3A75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1186462B-CBD1-872C-AC77-F1A076D19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59224"/>
            <a:stretch/>
          </p:blipFill>
          <p:spPr>
            <a:xfrm>
              <a:off x="11772022" y="1818289"/>
              <a:ext cx="765260" cy="93835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CC38F1-843C-B3D0-4355-58F1DE1FE629}"/>
              </a:ext>
            </a:extLst>
          </p:cNvPr>
          <p:cNvSpPr txBox="1"/>
          <p:nvPr/>
        </p:nvSpPr>
        <p:spPr>
          <a:xfrm>
            <a:off x="1120555" y="2234046"/>
            <a:ext cx="103239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Java</a:t>
            </a:r>
            <a:r>
              <a:rPr lang="en-US" altLang="ko-KR" dirty="0"/>
              <a:t>: 3</a:t>
            </a:r>
            <a:r>
              <a:rPr lang="ko-KR" altLang="en-US" dirty="0"/>
              <a:t>년 차 안드로이드 개발 경험 및 최근 </a:t>
            </a:r>
            <a:r>
              <a:rPr lang="en-US" altLang="ko-KR" dirty="0"/>
              <a:t>Spring Boot </a:t>
            </a:r>
            <a:r>
              <a:rPr lang="ko-KR" altLang="en-US" dirty="0"/>
              <a:t>로의 전환 이후 프로젝트 </a:t>
            </a:r>
            <a:r>
              <a:rPr lang="en-US" altLang="ko-KR" dirty="0"/>
              <a:t>2</a:t>
            </a:r>
            <a:r>
              <a:rPr lang="ko-KR" altLang="en-US" dirty="0"/>
              <a:t>개 참여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인터페이스</a:t>
            </a:r>
            <a:r>
              <a:rPr lang="en-US" altLang="ko-KR" dirty="0"/>
              <a:t>, </a:t>
            </a:r>
            <a:r>
              <a:rPr lang="ko-KR" altLang="en-US" dirty="0"/>
              <a:t>추상 클래스 조합 및 </a:t>
            </a:r>
            <a:r>
              <a:rPr lang="en-US" altLang="ko-KR" dirty="0"/>
              <a:t>SOLID </a:t>
            </a:r>
            <a:r>
              <a:rPr lang="ko-KR" altLang="en-US" dirty="0"/>
              <a:t>원칙과 디자인 패턴을 통한 객체 지향 및 함수형 프로그래밍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Stream</a:t>
            </a:r>
            <a:r>
              <a:rPr lang="ko-KR" altLang="en-US" dirty="0"/>
              <a:t>을 사용한 배열 및 리스트 처리</a:t>
            </a:r>
            <a:r>
              <a:rPr lang="en-US" altLang="ko-KR" dirty="0"/>
              <a:t>, Optional</a:t>
            </a:r>
            <a:r>
              <a:rPr lang="ko-KR" altLang="en-US" dirty="0"/>
              <a:t>을 이용한 </a:t>
            </a:r>
            <a:r>
              <a:rPr lang="en-US" altLang="ko-KR" dirty="0"/>
              <a:t>Null Guarding </a:t>
            </a:r>
            <a:r>
              <a:rPr lang="ko-KR" altLang="en-US" dirty="0"/>
              <a:t>코딩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Spring Boot</a:t>
            </a:r>
            <a:r>
              <a:rPr lang="en-US" altLang="ko-KR" dirty="0"/>
              <a:t>: JPA </a:t>
            </a:r>
            <a:r>
              <a:rPr lang="ko-KR" altLang="en-US" dirty="0"/>
              <a:t>사용한 </a:t>
            </a:r>
            <a:r>
              <a:rPr lang="en-US" altLang="ko-KR" dirty="0"/>
              <a:t>DB CRUD </a:t>
            </a:r>
            <a:r>
              <a:rPr lang="ko-KR" altLang="en-US" dirty="0"/>
              <a:t>및 관리</a:t>
            </a:r>
            <a:r>
              <a:rPr lang="en-US" altLang="ko-KR" dirty="0"/>
              <a:t>, MVC </a:t>
            </a:r>
            <a:r>
              <a:rPr lang="ko-KR" altLang="en-US" dirty="0"/>
              <a:t>패턴 및 </a:t>
            </a:r>
            <a:r>
              <a:rPr lang="en-US" altLang="ko-KR" dirty="0"/>
              <a:t>3-Layer Architecture </a:t>
            </a:r>
            <a:r>
              <a:rPr lang="ko-KR" altLang="en-US" dirty="0"/>
              <a:t>감안한 </a:t>
            </a:r>
            <a:r>
              <a:rPr lang="en-US" altLang="ko-KR" dirty="0"/>
              <a:t>API </a:t>
            </a:r>
            <a:r>
              <a:rPr lang="ko-KR" altLang="en-US" dirty="0"/>
              <a:t>설계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 err="1"/>
              <a:t>QueryMethod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Native Query</a:t>
            </a:r>
            <a:r>
              <a:rPr lang="ko-KR" altLang="en-US" dirty="0"/>
              <a:t>를 통한 </a:t>
            </a:r>
            <a:r>
              <a:rPr lang="en-US" altLang="ko-KR" dirty="0"/>
              <a:t>DB CRUD. Projection </a:t>
            </a:r>
            <a:r>
              <a:rPr lang="ko-KR" altLang="en-US" dirty="0"/>
              <a:t>사용을 통한 쿼리 최적화 진행</a:t>
            </a:r>
            <a:r>
              <a:rPr lang="en-US" altLang="ko-KR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 err="1"/>
              <a:t>ResponseEntity</a:t>
            </a:r>
            <a:r>
              <a:rPr lang="en-US" altLang="ko-KR" dirty="0"/>
              <a:t> </a:t>
            </a:r>
            <a:r>
              <a:rPr lang="ko-KR" altLang="en-US" dirty="0"/>
              <a:t>커스텀을 통한 응답 메시지 최적화</a:t>
            </a:r>
            <a:r>
              <a:rPr lang="en-US" altLang="ko-KR" dirty="0"/>
              <a:t>. Facade </a:t>
            </a:r>
            <a:r>
              <a:rPr lang="ko-KR" altLang="en-US" dirty="0"/>
              <a:t>패턴을 통한 </a:t>
            </a:r>
            <a:r>
              <a:rPr lang="en-US" altLang="ko-KR" dirty="0"/>
              <a:t>3-Layer </a:t>
            </a:r>
            <a:r>
              <a:rPr lang="ko-KR" altLang="en-US" dirty="0"/>
              <a:t>확장 설계</a:t>
            </a:r>
            <a:endParaRPr lang="en-US" altLang="ko-KR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/>
              <a:t>Andorid</a:t>
            </a:r>
            <a:r>
              <a:rPr lang="en-US" altLang="ko-KR" dirty="0"/>
              <a:t>: Life Cycle </a:t>
            </a:r>
            <a:r>
              <a:rPr lang="ko-KR" altLang="en-US" dirty="0"/>
              <a:t>고려한 앱 개발 및 </a:t>
            </a:r>
            <a:r>
              <a:rPr lang="en-US" altLang="ko-KR" dirty="0"/>
              <a:t>Glide, KNOX </a:t>
            </a:r>
            <a:r>
              <a:rPr lang="ko-KR" altLang="en-US" dirty="0"/>
              <a:t>같은 라이브러리를 통한 개발 및 유지 보수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 err="1"/>
              <a:t>PlayStore</a:t>
            </a:r>
            <a:r>
              <a:rPr lang="en-US" altLang="ko-KR" dirty="0"/>
              <a:t> </a:t>
            </a:r>
            <a:r>
              <a:rPr lang="ko-KR" altLang="en-US" dirty="0"/>
              <a:t>업데이트 및 의견 제출을 통한 앱 민감 권한 사용 유지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/>
              <a:t>KNOX(Samsung), </a:t>
            </a:r>
            <a:r>
              <a:rPr lang="ko-KR" altLang="en-US" dirty="0"/>
              <a:t>백신 </a:t>
            </a:r>
            <a:r>
              <a:rPr lang="en-US" altLang="ko-KR" dirty="0"/>
              <a:t>MSDK(</a:t>
            </a:r>
            <a:r>
              <a:rPr lang="ko-KR" altLang="en-US" dirty="0" err="1"/>
              <a:t>안랩</a:t>
            </a:r>
            <a:r>
              <a:rPr lang="en-US" altLang="ko-KR" dirty="0"/>
              <a:t>)</a:t>
            </a:r>
            <a:r>
              <a:rPr lang="ko-KR" altLang="en-US" dirty="0"/>
              <a:t>을 통한 외부 회사의 라이브러리 사용 및 협업 경험</a:t>
            </a:r>
            <a:endParaRPr lang="en-US" altLang="ko-KR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b="1" dirty="0"/>
              <a:t>C# - ASP.NET</a:t>
            </a:r>
            <a:r>
              <a:rPr lang="en-US" altLang="ko-KR" dirty="0"/>
              <a:t>: 10</a:t>
            </a:r>
            <a:r>
              <a:rPr lang="ko-KR" altLang="en-US" dirty="0"/>
              <a:t>개월 간의 서버 이전 프로젝트 및 </a:t>
            </a:r>
            <a:r>
              <a:rPr lang="en-US" altLang="ko-KR" dirty="0"/>
              <a:t>1</a:t>
            </a:r>
            <a:r>
              <a:rPr lang="ko-KR" altLang="en-US" dirty="0"/>
              <a:t>년 간의 </a:t>
            </a:r>
            <a:r>
              <a:rPr lang="en-US" altLang="ko-KR" dirty="0"/>
              <a:t>ASP, ASP.NET</a:t>
            </a:r>
            <a:r>
              <a:rPr lang="ko-KR" altLang="en-US" dirty="0"/>
              <a:t> 서비스 유지 보수 경험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DBMS </a:t>
            </a:r>
            <a:r>
              <a:rPr lang="ko-KR" altLang="en-US" dirty="0"/>
              <a:t>변경 이슈로 </a:t>
            </a:r>
            <a:r>
              <a:rPr lang="en-US" altLang="ko-KR" dirty="0" err="1"/>
              <a:t>SqlHelper</a:t>
            </a:r>
            <a:r>
              <a:rPr lang="en-US" altLang="ko-KR" dirty="0"/>
              <a:t> </a:t>
            </a:r>
            <a:r>
              <a:rPr lang="ko-KR" altLang="en-US" dirty="0"/>
              <a:t>라이브러리를 사용한 로직을 </a:t>
            </a:r>
            <a:r>
              <a:rPr lang="en-US" altLang="ko-KR" dirty="0"/>
              <a:t>ODBC </a:t>
            </a:r>
            <a:r>
              <a:rPr lang="ko-KR" altLang="en-US" dirty="0"/>
              <a:t>드라이버 라이브러리로 교체</a:t>
            </a:r>
            <a:r>
              <a:rPr lang="en-US" altLang="ko-KR" dirty="0"/>
              <a:t>.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dirty="0"/>
              <a:t>비즈니스 로직에 영향을 주지 않고 </a:t>
            </a:r>
            <a:r>
              <a:rPr lang="en-US" altLang="ko-KR" dirty="0"/>
              <a:t>RDBMS </a:t>
            </a:r>
            <a:r>
              <a:rPr lang="ko-KR" altLang="en-US" dirty="0"/>
              <a:t>변경이 가능하도록 </a:t>
            </a:r>
            <a:r>
              <a:rPr lang="en-US" altLang="ko-KR" dirty="0"/>
              <a:t>2~300</a:t>
            </a:r>
            <a:r>
              <a:rPr lang="ko-KR" altLang="en-US" dirty="0"/>
              <a:t>라인만으로 적용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/>
              <a:t>4000</a:t>
            </a:r>
            <a:r>
              <a:rPr lang="ko-KR" altLang="en-US" dirty="0"/>
              <a:t>줄 가량의 </a:t>
            </a:r>
            <a:r>
              <a:rPr lang="en-US" altLang="ko-KR" dirty="0"/>
              <a:t>ASP.NET</a:t>
            </a:r>
            <a:r>
              <a:rPr lang="ko-KR" altLang="en-US" dirty="0"/>
              <a:t> 코드 분석과 </a:t>
            </a:r>
            <a:r>
              <a:rPr lang="en-US" altLang="ko-KR" dirty="0"/>
              <a:t>AWS </a:t>
            </a:r>
            <a:r>
              <a:rPr lang="ko-KR" altLang="en-US" dirty="0"/>
              <a:t>동작 원리 이해로 </a:t>
            </a:r>
            <a:r>
              <a:rPr lang="en-US" altLang="ko-KR" dirty="0"/>
              <a:t>Spring Boot </a:t>
            </a:r>
            <a:r>
              <a:rPr lang="ko-KR" altLang="en-US" dirty="0"/>
              <a:t>전환 시 도움</a:t>
            </a:r>
            <a:endParaRPr lang="en-US" altLang="ko-KR" dirty="0"/>
          </a:p>
          <a:p>
            <a:pPr lvl="2"/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기타 </a:t>
            </a:r>
            <a:r>
              <a:rPr lang="en-US" altLang="ko-KR" dirty="0"/>
              <a:t>: JavaScript - React, asp, Kotlin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BCED1-B18E-E1AA-30D2-59C7FF3EA7D4}"/>
              </a:ext>
            </a:extLst>
          </p:cNvPr>
          <p:cNvSpPr txBox="1"/>
          <p:nvPr/>
        </p:nvSpPr>
        <p:spPr>
          <a:xfrm>
            <a:off x="1120556" y="1516357"/>
            <a:ext cx="6893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effectLst/>
              </a:rPr>
              <a:t>🛠️ </a:t>
            </a:r>
            <a:r>
              <a:rPr lang="en-US" altLang="ko-KR" sz="2400" b="1" dirty="0">
                <a:effectLst/>
              </a:rPr>
              <a:t>Java</a:t>
            </a:r>
            <a:r>
              <a:rPr lang="en-US" altLang="ko-KR" sz="2400" dirty="0">
                <a:effectLst/>
              </a:rPr>
              <a:t> - Android, Spring Boot | </a:t>
            </a:r>
            <a:r>
              <a:rPr lang="en-US" altLang="ko-KR" sz="2400" b="1" dirty="0">
                <a:effectLst/>
              </a:rPr>
              <a:t>C#</a:t>
            </a:r>
            <a:r>
              <a:rPr lang="en-US" altLang="ko-KR" sz="2400" dirty="0">
                <a:effectLst/>
              </a:rPr>
              <a:t> - ASP.NET</a:t>
            </a:r>
            <a:endParaRPr lang="ko-KR" altLang="en-US" sz="2300" b="1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B5083F2C-C6E6-CF1C-1C8C-FFFC73370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5465" y="3205508"/>
            <a:ext cx="1602254" cy="14400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CDC77DD3-0C3C-213D-C1C6-46B5F139D8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5600" y="4239376"/>
            <a:ext cx="1440000" cy="144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43A674D-C9DB-6C08-3ECB-0DF445E66A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4111" y="5322028"/>
            <a:ext cx="1440000" cy="1440000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4A1537-5224-26C4-5153-3D10B46B4D08}"/>
              </a:ext>
            </a:extLst>
          </p:cNvPr>
          <p:cNvSpPr txBox="1"/>
          <p:nvPr/>
        </p:nvSpPr>
        <p:spPr>
          <a:xfrm>
            <a:off x="621792" y="564922"/>
            <a:ext cx="1208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Skills / </a:t>
            </a:r>
            <a:r>
              <a:rPr lang="en-US" altLang="ko-KR" sz="4000" b="1" dirty="0">
                <a:solidFill>
                  <a:srgbClr val="508D4E"/>
                </a:solidFill>
                <a:effectLst/>
              </a:rPr>
              <a:t>Language &amp; Frameworks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AB7B82-C758-1272-A194-0AF609BAD0B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11A068-1DAE-89FD-951E-E06DD2E11356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69AAB6-3F5E-4174-C1C4-18B013E57CC6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2D790B-97DB-7390-113E-DB1036C81AC8}"/>
              </a:ext>
            </a:extLst>
          </p:cNvPr>
          <p:cNvSpPr/>
          <p:nvPr/>
        </p:nvSpPr>
        <p:spPr>
          <a:xfrm>
            <a:off x="11355600" y="1747189"/>
            <a:ext cx="2595420" cy="5078313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22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75E3-0551-870C-47D3-4BD2B4E3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99076C7-FCF2-4063-BDFD-1F57C59F1720}"/>
              </a:ext>
            </a:extLst>
          </p:cNvPr>
          <p:cNvSpPr/>
          <p:nvPr/>
        </p:nvSpPr>
        <p:spPr>
          <a:xfrm>
            <a:off x="1140380" y="1443631"/>
            <a:ext cx="7893865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C8863-8DDA-E9B2-148D-45F40B90E01C}"/>
              </a:ext>
            </a:extLst>
          </p:cNvPr>
          <p:cNvSpPr txBox="1"/>
          <p:nvPr/>
        </p:nvSpPr>
        <p:spPr>
          <a:xfrm>
            <a:off x="621792" y="564922"/>
            <a:ext cx="1208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Skills / </a:t>
            </a:r>
            <a:r>
              <a:rPr lang="en-US" altLang="ko-KR" sz="4000" b="1" dirty="0">
                <a:solidFill>
                  <a:srgbClr val="508D4E"/>
                </a:solidFill>
                <a:effectLst/>
              </a:rPr>
              <a:t>Infrastructure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5678D-B775-6B22-0395-6537D1588E9C}"/>
              </a:ext>
            </a:extLst>
          </p:cNvPr>
          <p:cNvSpPr txBox="1"/>
          <p:nvPr/>
        </p:nvSpPr>
        <p:spPr>
          <a:xfrm>
            <a:off x="1120555" y="2234046"/>
            <a:ext cx="102350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effectLst/>
              </a:rPr>
              <a:t>Window Server (On-Premise, Cloud)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Window Server </a:t>
            </a:r>
            <a:r>
              <a:rPr lang="ko-KR" altLang="en-US" dirty="0"/>
              <a:t>및 </a:t>
            </a:r>
            <a:r>
              <a:rPr lang="en-US" altLang="ko-KR" dirty="0"/>
              <a:t>IIS </a:t>
            </a:r>
            <a:r>
              <a:rPr lang="ko-KR" altLang="en-US" dirty="0"/>
              <a:t>운용 경험</a:t>
            </a:r>
            <a:r>
              <a:rPr lang="en-US" altLang="ko-KR" dirty="0"/>
              <a:t>. </a:t>
            </a:r>
            <a:r>
              <a:rPr lang="ko-KR" altLang="en-US" dirty="0"/>
              <a:t>서버 관리 및 보안 패치 적용을 통한 서버 유지 보수 업무 진행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구버전의 </a:t>
            </a:r>
            <a:r>
              <a:rPr lang="en-US" altLang="ko-KR" b="1" dirty="0">
                <a:effectLst/>
              </a:rPr>
              <a:t>Window Server (2002 R2)</a:t>
            </a:r>
            <a:r>
              <a:rPr lang="ko-KR" altLang="en-US" dirty="0"/>
              <a:t> 에서 </a:t>
            </a:r>
            <a:r>
              <a:rPr lang="ko-KR" altLang="en-US" b="1" dirty="0">
                <a:effectLst/>
              </a:rPr>
              <a:t>최근 버전의 </a:t>
            </a:r>
            <a:r>
              <a:rPr lang="en-US" altLang="ko-KR" b="1" dirty="0">
                <a:effectLst/>
              </a:rPr>
              <a:t>Window Server(2016)</a:t>
            </a:r>
            <a:r>
              <a:rPr lang="ko-KR" altLang="en-US" dirty="0">
                <a:effectLst/>
              </a:rPr>
              <a:t>으</a:t>
            </a:r>
            <a:r>
              <a:rPr lang="ko-KR" altLang="en-US" dirty="0"/>
              <a:t>로</a:t>
            </a:r>
            <a:br>
              <a:rPr lang="en-US" altLang="ko-KR" dirty="0"/>
            </a:br>
            <a:r>
              <a:rPr lang="ko-KR" altLang="en-US" b="1" dirty="0"/>
              <a:t>이전 작업 프로젝트</a:t>
            </a:r>
            <a:r>
              <a:rPr lang="ko-KR" altLang="en-US" dirty="0"/>
              <a:t> 경험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effectLst/>
              </a:rPr>
              <a:t>Linux (Cloud)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리눅스의 기본 명령어 사용 및 리눅스 기본 트리 구조 및 파일 시스템에 대한 이해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 err="1"/>
              <a:t>NginX</a:t>
            </a:r>
            <a:r>
              <a:rPr lang="ko-KR" altLang="en-US" b="1" dirty="0"/>
              <a:t>를 통한 </a:t>
            </a:r>
            <a:r>
              <a:rPr lang="en-US" altLang="ko-KR" b="1" dirty="0"/>
              <a:t>Frontend Web Server </a:t>
            </a:r>
            <a:r>
              <a:rPr lang="ko-KR" altLang="en-US" b="1" dirty="0"/>
              <a:t>구동</a:t>
            </a:r>
            <a:r>
              <a:rPr lang="ko-KR" altLang="en-US" dirty="0"/>
              <a:t> 가능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AWS(Cloud)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전반적인 서버 설계</a:t>
            </a:r>
            <a:r>
              <a:rPr lang="en-US" altLang="ko-KR" dirty="0"/>
              <a:t> </a:t>
            </a:r>
            <a:r>
              <a:rPr lang="ko-KR" altLang="en-US" dirty="0"/>
              <a:t>및 라우팅 테이블과 인터넷 게이트웨이를 이용한 </a:t>
            </a:r>
            <a:r>
              <a:rPr lang="en-US" altLang="ko-KR" dirty="0"/>
              <a:t>EC2 </a:t>
            </a:r>
            <a:r>
              <a:rPr lang="ko-KR" altLang="en-US" dirty="0"/>
              <a:t>인스턴스의 외부 통신</a:t>
            </a:r>
            <a:r>
              <a:rPr lang="en-US" altLang="ko-K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ACM, ALB</a:t>
            </a:r>
            <a:r>
              <a:rPr lang="ko-KR" altLang="en-US" dirty="0"/>
              <a:t>를 사용한 </a:t>
            </a:r>
            <a:r>
              <a:rPr lang="en-US" altLang="ko-KR" b="1" dirty="0"/>
              <a:t>https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Cloud Watch</a:t>
            </a:r>
            <a:r>
              <a:rPr lang="ko-KR" altLang="en-US" dirty="0"/>
              <a:t> 기반 서버 로그 수집 및 모니터링 환경 구성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RDS </a:t>
            </a:r>
            <a:r>
              <a:rPr lang="ko-KR" altLang="en-US" dirty="0"/>
              <a:t>보안을 위한 </a:t>
            </a:r>
            <a:r>
              <a:rPr lang="en-US" altLang="ko-KR" b="1" dirty="0"/>
              <a:t>private subnet </a:t>
            </a:r>
            <a:r>
              <a:rPr lang="ko-KR" altLang="en-US" dirty="0"/>
              <a:t>및</a:t>
            </a:r>
            <a:r>
              <a:rPr lang="ko-KR" altLang="en-US" b="1" dirty="0"/>
              <a:t> </a:t>
            </a:r>
            <a:r>
              <a:rPr lang="en-US" altLang="ko-KR" b="1" dirty="0"/>
              <a:t>Bastion </a:t>
            </a:r>
            <a:r>
              <a:rPr lang="ko-KR" altLang="en-US" b="1" dirty="0"/>
              <a:t>호스트 </a:t>
            </a:r>
            <a:r>
              <a:rPr lang="ko-KR" altLang="en-US" dirty="0"/>
              <a:t>구성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6D3D8-E01F-CB70-7737-4ACA3C0A3965}"/>
              </a:ext>
            </a:extLst>
          </p:cNvPr>
          <p:cNvSpPr txBox="1"/>
          <p:nvPr/>
        </p:nvSpPr>
        <p:spPr>
          <a:xfrm>
            <a:off x="1120555" y="1516357"/>
            <a:ext cx="8182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effectLst/>
              </a:rPr>
              <a:t>🛠️ </a:t>
            </a:r>
            <a:r>
              <a:rPr lang="en-US" altLang="ko-KR" sz="2400" b="1" dirty="0"/>
              <a:t>On-Premise</a:t>
            </a:r>
            <a:r>
              <a:rPr lang="en-US" altLang="ko-KR" sz="2400" dirty="0"/>
              <a:t>(Window Server, Linux), </a:t>
            </a:r>
            <a:r>
              <a:rPr lang="en-US" altLang="ko-KR" sz="2400" b="1" dirty="0"/>
              <a:t>Cloud</a:t>
            </a:r>
            <a:r>
              <a:rPr lang="en-US" altLang="ko-KR" sz="2400" dirty="0"/>
              <a:t>(AWS)</a:t>
            </a:r>
            <a:endParaRPr lang="ko-KR" altLang="en-US" sz="23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D00FE6-FD15-46B6-DF1C-9C6AC81AF5B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DFA16A-4A7B-1078-05BC-137712355066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2D490-7F2E-130E-B5F2-D235E2BE85E9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F4F07477-097D-B925-88B2-4F190A094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6340" y="2182719"/>
            <a:ext cx="1440000" cy="14400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2C19053-29C7-C29C-EAAC-298FD2C14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02660" y="3457575"/>
            <a:ext cx="1215000" cy="144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7EDEBB0-110F-5BEE-8598-EF5AA1BA48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945" y="5087486"/>
            <a:ext cx="2401564" cy="144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D6B141-95E2-7D3A-C6DE-26634C91603C}"/>
              </a:ext>
            </a:extLst>
          </p:cNvPr>
          <p:cNvSpPr/>
          <p:nvPr/>
        </p:nvSpPr>
        <p:spPr>
          <a:xfrm>
            <a:off x="10515600" y="1680048"/>
            <a:ext cx="2971800" cy="557165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0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86A6-E972-B946-50CC-0AF042CE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BB06F78-D879-EE52-BF9D-33B0C9257553}"/>
              </a:ext>
            </a:extLst>
          </p:cNvPr>
          <p:cNvSpPr/>
          <p:nvPr/>
        </p:nvSpPr>
        <p:spPr>
          <a:xfrm>
            <a:off x="1140380" y="1443631"/>
            <a:ext cx="7893865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3A03B-6F32-978D-C14E-D5779354EE97}"/>
              </a:ext>
            </a:extLst>
          </p:cNvPr>
          <p:cNvSpPr txBox="1"/>
          <p:nvPr/>
        </p:nvSpPr>
        <p:spPr>
          <a:xfrm>
            <a:off x="621792" y="564922"/>
            <a:ext cx="1208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Skills / Databases </a:t>
            </a:r>
            <a:r>
              <a:rPr lang="ko-KR" altLang="en-US" sz="4000" b="1" dirty="0">
                <a:solidFill>
                  <a:srgbClr val="508D4E"/>
                </a:solidFill>
              </a:rPr>
              <a:t>및 기타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A4CFC-465C-15F4-496E-A66E61F9D8A9}"/>
              </a:ext>
            </a:extLst>
          </p:cNvPr>
          <p:cNvSpPr txBox="1"/>
          <p:nvPr/>
        </p:nvSpPr>
        <p:spPr>
          <a:xfrm>
            <a:off x="1120555" y="2234046"/>
            <a:ext cx="102350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SQL </a:t>
            </a:r>
            <a:r>
              <a:rPr lang="ko-KR" altLang="en-US" dirty="0"/>
              <a:t>작성 및 </a:t>
            </a:r>
            <a:r>
              <a:rPr lang="en-US" altLang="ko-KR" dirty="0"/>
              <a:t>PL/SQL</a:t>
            </a:r>
            <a:r>
              <a:rPr lang="ko-KR" altLang="en-US" dirty="0"/>
              <a:t>을 통한 </a:t>
            </a:r>
            <a:r>
              <a:rPr lang="en-US" altLang="ko-KR" dirty="0"/>
              <a:t>Procedure </a:t>
            </a:r>
            <a:r>
              <a:rPr lang="ko-KR" altLang="en-US" dirty="0"/>
              <a:t>작성 및 유지 보수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유저 별 권한 부여 및 테이블 스페이스 할당을 통한 데이터베이스 생성 및 이용 가능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Trigger </a:t>
            </a:r>
            <a:r>
              <a:rPr lang="ko-KR" altLang="en-US" dirty="0"/>
              <a:t>및 </a:t>
            </a:r>
            <a:r>
              <a:rPr lang="en-US" altLang="ko-KR" dirty="0"/>
              <a:t>Scheduler </a:t>
            </a:r>
            <a:r>
              <a:rPr lang="ko-KR" altLang="en-US" dirty="0"/>
              <a:t>같은 </a:t>
            </a:r>
            <a:r>
              <a:rPr lang="en-US" altLang="ko-KR" dirty="0"/>
              <a:t>DBMS </a:t>
            </a:r>
            <a:r>
              <a:rPr lang="ko-KR" altLang="en-US" dirty="0"/>
              <a:t>기능 이용을 통한 다양한 비즈니스 로직 구상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SQL Server</a:t>
            </a:r>
            <a:r>
              <a:rPr lang="ko-KR" altLang="en-US" dirty="0"/>
              <a:t>에서 </a:t>
            </a:r>
            <a:r>
              <a:rPr lang="en-US" altLang="ko-KR" dirty="0"/>
              <a:t>Oracle</a:t>
            </a:r>
            <a:r>
              <a:rPr lang="ko-KR" altLang="en-US" dirty="0"/>
              <a:t>로의 서버 이전 경험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SQL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SQL </a:t>
            </a:r>
            <a:r>
              <a:rPr lang="ko-KR" altLang="en-US" dirty="0"/>
              <a:t>작성 및 </a:t>
            </a:r>
            <a:r>
              <a:rPr lang="en-US" altLang="ko-KR" dirty="0"/>
              <a:t>T-SQL</a:t>
            </a:r>
            <a:r>
              <a:rPr lang="ko-KR" altLang="en-US" dirty="0"/>
              <a:t>을 통한 </a:t>
            </a:r>
            <a:r>
              <a:rPr lang="en-US" altLang="ko-KR" dirty="0"/>
              <a:t>Procedure </a:t>
            </a:r>
            <a:r>
              <a:rPr lang="ko-KR" altLang="en-US" dirty="0"/>
              <a:t>흐름 파악 및 유지 보수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 파일 및 로그 파일 관리 및 </a:t>
            </a:r>
            <a:r>
              <a:rPr lang="en-US" altLang="ko-KR" dirty="0"/>
              <a:t>Scheduler</a:t>
            </a:r>
            <a:r>
              <a:rPr lang="ko-KR" altLang="en-US" dirty="0"/>
              <a:t>를 통한 주기적인 </a:t>
            </a:r>
            <a:r>
              <a:rPr lang="en-US" altLang="ko-KR" dirty="0"/>
              <a:t>DB </a:t>
            </a:r>
            <a:r>
              <a:rPr lang="ko-KR" altLang="en-US" dirty="0"/>
              <a:t>백업</a:t>
            </a:r>
            <a:r>
              <a:rPr lang="en-US" altLang="ko-KR" dirty="0"/>
              <a:t>.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MySQL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AWS RDS</a:t>
            </a:r>
            <a:r>
              <a:rPr lang="ko-KR" altLang="en-US" dirty="0"/>
              <a:t>를 통한 </a:t>
            </a:r>
            <a:r>
              <a:rPr lang="en-US" altLang="ko-KR" dirty="0"/>
              <a:t>MySQL </a:t>
            </a:r>
            <a:r>
              <a:rPr lang="ko-KR" altLang="en-US" dirty="0"/>
              <a:t>접근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쿼리문</a:t>
            </a:r>
            <a:r>
              <a:rPr lang="ko-KR" altLang="en-US" dirty="0"/>
              <a:t> 작성을 통한 </a:t>
            </a:r>
            <a:r>
              <a:rPr lang="en-US" altLang="ko-KR" dirty="0"/>
              <a:t>CRUD </a:t>
            </a:r>
            <a:r>
              <a:rPr lang="ko-KR" altLang="en-US" dirty="0"/>
              <a:t>및 인덱싱과 </a:t>
            </a:r>
            <a:r>
              <a:rPr lang="ko-KR" altLang="en-US" dirty="0" err="1"/>
              <a:t>쿼리문</a:t>
            </a:r>
            <a:r>
              <a:rPr lang="ko-KR" altLang="en-US" dirty="0"/>
              <a:t> 최적화를 통한 응답시간 감소 경험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기타</a:t>
            </a:r>
            <a:r>
              <a:rPr lang="en-US" altLang="ko-KR" dirty="0"/>
              <a:t>: Docker </a:t>
            </a:r>
            <a:r>
              <a:rPr lang="ko-KR" altLang="en-US" dirty="0"/>
              <a:t>및 </a:t>
            </a:r>
            <a:r>
              <a:rPr lang="en-US" altLang="ko-KR" dirty="0" err="1"/>
              <a:t>Github</a:t>
            </a:r>
            <a:r>
              <a:rPr lang="en-US" altLang="ko-KR" dirty="0"/>
              <a:t> Actions </a:t>
            </a:r>
            <a:r>
              <a:rPr lang="ko-KR" altLang="en-US" dirty="0"/>
              <a:t>을 활용한 </a:t>
            </a:r>
            <a:r>
              <a:rPr lang="en-US" altLang="ko-KR" dirty="0"/>
              <a:t>CI/CD </a:t>
            </a:r>
            <a:r>
              <a:rPr lang="ko-KR" altLang="en-US" dirty="0"/>
              <a:t>파이프라인 자동화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Git </a:t>
            </a:r>
            <a:r>
              <a:rPr lang="ko-KR" altLang="en-US" dirty="0"/>
              <a:t>및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를 사용한 코드 산출물 버전 관리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C3845-16C1-F0A7-8178-9CEC9807ADB4}"/>
              </a:ext>
            </a:extLst>
          </p:cNvPr>
          <p:cNvSpPr txBox="1"/>
          <p:nvPr/>
        </p:nvSpPr>
        <p:spPr>
          <a:xfrm>
            <a:off x="1120555" y="1516357"/>
            <a:ext cx="7196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effectLst/>
              </a:rPr>
              <a:t>🛠️ </a:t>
            </a:r>
            <a:r>
              <a:rPr lang="en-US" altLang="ko-KR" sz="2400" b="1" dirty="0"/>
              <a:t>Oracle, SQL Server, MySQL / Docker, </a:t>
            </a:r>
            <a:r>
              <a:rPr lang="en-US" altLang="ko-KR" sz="2400" b="1" dirty="0" err="1"/>
              <a:t>Github</a:t>
            </a:r>
            <a:endParaRPr lang="ko-KR" altLang="en-US" sz="23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BE22A4-22A1-1765-6271-A57AEA15175B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C47515-FFC4-CB46-8FEB-31EF34D5E521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2617D8-CBFC-F3C5-B01A-448AAE21F30E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6E3D7E-281E-2C29-383B-9C79A142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16" y="1981689"/>
            <a:ext cx="1440000" cy="144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D84006A-89B9-261F-A04D-25A9C82DE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105" y="2995857"/>
            <a:ext cx="1774286" cy="144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3847500-500C-802D-89EE-FEBDAD19F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231" y="4437582"/>
            <a:ext cx="2129748" cy="1440000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C95BF4C7-C8DB-470B-1A2F-36AD3101EB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26" y="5594183"/>
            <a:ext cx="1823518" cy="144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13FDB6-5C1B-9EB2-3722-340040B8DBBB}"/>
              </a:ext>
            </a:extLst>
          </p:cNvPr>
          <p:cNvSpPr/>
          <p:nvPr/>
        </p:nvSpPr>
        <p:spPr>
          <a:xfrm>
            <a:off x="9889992" y="1680048"/>
            <a:ext cx="3457707" cy="557165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706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98B73C-61D9-6273-6C07-408C28AC1B32}"/>
              </a:ext>
            </a:extLst>
          </p:cNvPr>
          <p:cNvSpPr txBox="1"/>
          <p:nvPr/>
        </p:nvSpPr>
        <p:spPr>
          <a:xfrm>
            <a:off x="621791" y="564922"/>
            <a:ext cx="3014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Bootcamps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43F11-0B83-6810-B1FE-ACB6E0D1008E}"/>
              </a:ext>
            </a:extLst>
          </p:cNvPr>
          <p:cNvSpPr txBox="1"/>
          <p:nvPr/>
        </p:nvSpPr>
        <p:spPr>
          <a:xfrm>
            <a:off x="1146969" y="1272808"/>
            <a:ext cx="598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ffectLst/>
              </a:rPr>
              <a:t>SK Planet - T </a:t>
            </a:r>
            <a:r>
              <a:rPr lang="ko-KR" altLang="en-US" sz="2400" b="1" dirty="0">
                <a:effectLst/>
              </a:rPr>
              <a:t>아카데미 </a:t>
            </a:r>
            <a:r>
              <a:rPr lang="en-US" altLang="ko-KR" sz="2400" b="1" dirty="0">
                <a:effectLst/>
              </a:rPr>
              <a:t>ASAC </a:t>
            </a:r>
            <a:r>
              <a:rPr lang="ko-KR" altLang="en-US" sz="2400" b="1" dirty="0">
                <a:effectLst/>
              </a:rPr>
              <a:t>웹 </a:t>
            </a:r>
            <a:r>
              <a:rPr lang="ko-KR" altLang="en-US" sz="2400" b="1" dirty="0" err="1">
                <a:effectLst/>
              </a:rPr>
              <a:t>풀스택</a:t>
            </a:r>
            <a:r>
              <a:rPr lang="ko-KR" altLang="en-US" sz="2400" b="1" dirty="0">
                <a:effectLst/>
              </a:rPr>
              <a:t> </a:t>
            </a:r>
            <a:r>
              <a:rPr lang="en-US" altLang="ko-KR" sz="2400" b="1" dirty="0">
                <a:effectLst/>
              </a:rPr>
              <a:t>6</a:t>
            </a:r>
            <a:r>
              <a:rPr lang="ko-KR" altLang="en-US" sz="2400" b="1" dirty="0">
                <a:effectLst/>
              </a:rPr>
              <a:t>기 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4BFB-BEF8-F0B6-014B-2AD7CC2EB59E}"/>
              </a:ext>
            </a:extLst>
          </p:cNvPr>
          <p:cNvSpPr txBox="1"/>
          <p:nvPr/>
        </p:nvSpPr>
        <p:spPr>
          <a:xfrm>
            <a:off x="1146968" y="1678246"/>
            <a:ext cx="955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🗓️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2024.08 ~ 2025.02 (0.5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)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📗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강의자료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🚀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최종 프로젝트 자료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🧑🏻‍🏫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강사 이력서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0B819-EE4C-89F5-ABD7-1CB2289362FE}"/>
              </a:ext>
            </a:extLst>
          </p:cNvPr>
          <p:cNvSpPr txBox="1"/>
          <p:nvPr/>
        </p:nvSpPr>
        <p:spPr>
          <a:xfrm>
            <a:off x="1146968" y="1996778"/>
            <a:ext cx="1219689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Android</a:t>
            </a:r>
            <a:r>
              <a:rPr kumimoji="0" lang="en-US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개발자에서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Boot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웹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백엔드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개발자 전환을 위해 웹 기초 및</a:t>
            </a:r>
            <a:r>
              <a:rPr lang="en-US" altLang="ko-KR" sz="2200" b="1" dirty="0"/>
              <a:t> FE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풀스택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지식 함양</a:t>
            </a:r>
            <a:endParaRPr lang="en-US" altLang="ko-KR" sz="2200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 b="1" dirty="0"/>
              <a:t>Backend</a:t>
            </a:r>
            <a:r>
              <a:rPr lang="ko-KR" altLang="ko-KR" sz="2000" dirty="0"/>
              <a:t>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dirty="0" err="1"/>
              <a:t>Java</a:t>
            </a:r>
            <a:r>
              <a:rPr lang="ko-KR" altLang="ko-KR" dirty="0"/>
              <a:t> 객체지향 프로그래밍 문법, 함수형 프로그래밍 확장 문법. </a:t>
            </a:r>
            <a:r>
              <a:rPr lang="ko-KR" altLang="ko-KR" dirty="0" err="1"/>
              <a:t>Spring</a:t>
            </a:r>
            <a:r>
              <a:rPr lang="ko-KR" altLang="ko-KR" dirty="0"/>
              <a:t> </a:t>
            </a:r>
            <a:r>
              <a:rPr lang="ko-KR" altLang="ko-KR" dirty="0" err="1"/>
              <a:t>Boot</a:t>
            </a:r>
            <a:r>
              <a:rPr lang="ko-KR" altLang="ko-KR" dirty="0"/>
              <a:t> 특장점과 연습.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dirty="0"/>
              <a:t>AWS VPC 구성 및 </a:t>
            </a:r>
            <a:r>
              <a:rPr lang="ko-KR" altLang="ko-KR" dirty="0" err="1"/>
              <a:t>Bastion</a:t>
            </a:r>
            <a:r>
              <a:rPr lang="ko-KR" altLang="ko-KR" dirty="0"/>
              <a:t> 과 NAT 통한 </a:t>
            </a:r>
            <a:r>
              <a:rPr lang="ko-KR" altLang="ko-KR" dirty="0" err="1"/>
              <a:t>Private</a:t>
            </a:r>
            <a:r>
              <a:rPr lang="ko-KR" altLang="ko-KR" dirty="0"/>
              <a:t> 네트워크 내 EC2 구성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dirty="0"/>
              <a:t>데이터베이스와 ERD, 인덱스 및 트랜잭션.</a:t>
            </a:r>
            <a:endParaRPr lang="en-US" altLang="ko-KR" dirty="0"/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dirty="0" err="1"/>
              <a:t>Spring</a:t>
            </a:r>
            <a:r>
              <a:rPr lang="ko-KR" altLang="ko-KR" dirty="0"/>
              <a:t> Data </a:t>
            </a:r>
            <a:r>
              <a:rPr lang="ko-KR" altLang="ko-KR" dirty="0" err="1"/>
              <a:t>JPA를</a:t>
            </a:r>
            <a:r>
              <a:rPr lang="ko-KR" altLang="ko-KR" dirty="0"/>
              <a:t> 통한 DB 관리. 연관관계 맵핑 관련</a:t>
            </a:r>
            <a:r>
              <a:rPr lang="en-US" altLang="ko-KR" dirty="0"/>
              <a:t> </a:t>
            </a:r>
            <a:r>
              <a:rPr lang="ko-KR" altLang="ko-KR" dirty="0" err="1"/>
              <a:t>어노테이션</a:t>
            </a:r>
            <a:r>
              <a:rPr lang="ko-KR" altLang="ko-KR" dirty="0"/>
              <a:t> 실습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dirty="0" err="1"/>
              <a:t>Spring</a:t>
            </a:r>
            <a:r>
              <a:rPr lang="ko-KR" altLang="ko-KR" dirty="0"/>
              <a:t> </a:t>
            </a:r>
            <a:r>
              <a:rPr lang="ko-KR" altLang="ko-KR" dirty="0" err="1"/>
              <a:t>Security</a:t>
            </a:r>
            <a:r>
              <a:rPr lang="ko-KR" altLang="ko-KR" dirty="0"/>
              <a:t> 동작 원리. 인증과 인가 차이 및 SSO, </a:t>
            </a:r>
            <a:r>
              <a:rPr lang="ko-KR" altLang="ko-KR" dirty="0" err="1"/>
              <a:t>OAuth</a:t>
            </a:r>
            <a:r>
              <a:rPr lang="ko-KR" altLang="ko-KR" dirty="0"/>
              <a:t> 원리. </a:t>
            </a:r>
            <a:endParaRPr lang="en-US" altLang="ko-KR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b="1" dirty="0"/>
              <a:t>Frontend</a:t>
            </a:r>
            <a:r>
              <a:rPr lang="ko-KR" altLang="ko-KR" b="1" dirty="0"/>
              <a:t>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dirty="0"/>
              <a:t>JS ES6 문법 및 JS 엔진 동작 원리. </a:t>
            </a:r>
            <a:r>
              <a:rPr lang="ko-KR" altLang="ko-KR" dirty="0" err="1"/>
              <a:t>React</a:t>
            </a:r>
            <a:r>
              <a:rPr lang="ko-KR" altLang="ko-KR" dirty="0"/>
              <a:t> 동작 원리 및 타 프레임워크와의 차이.</a:t>
            </a:r>
            <a:br>
              <a:rPr lang="en-US" altLang="ko-KR" dirty="0"/>
            </a:br>
            <a:r>
              <a:rPr lang="ko-KR" altLang="ko-KR" dirty="0" err="1"/>
              <a:t>React</a:t>
            </a:r>
            <a:r>
              <a:rPr lang="ko-KR" altLang="ko-KR" dirty="0"/>
              <a:t> </a:t>
            </a:r>
            <a:r>
              <a:rPr lang="ko-KR" altLang="ko-KR" dirty="0" err="1"/>
              <a:t>서드</a:t>
            </a:r>
            <a:r>
              <a:rPr lang="ko-KR" altLang="ko-KR" dirty="0"/>
              <a:t> 파티 라이브러리 실습 및 Next.js 원리 이해, 실습 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웹 기초 및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아키텍팅과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CI/CD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웹 브라우저와 웹 서버 및 AWS,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DNS와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SEO 및 웹 페이지 렌더링 패턴.</a:t>
            </a:r>
            <a:br>
              <a:rPr lang="en-US" altLang="ko-KR" dirty="0"/>
            </a:b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Git의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동작 원리 및 사례 실습,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Github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Action을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통한 CI/CD 구축 </a:t>
            </a:r>
            <a:endParaRPr lang="en-US" altLang="ko-KR" dirty="0"/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4개월 학습 후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Spring으로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외주 계약 프로젝트 개발, 실제 유저 기반 최종 납품 및 유지 보수 경험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FA1288-41D5-75E9-409D-BDA1B776050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DCBA0F-D25E-D4FB-01D8-AA133876E337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23CE68-F2F8-ED0F-27DA-8083C367CF7D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10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9D28-63A9-A280-04C8-D2245834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65EE65-6A34-D28E-C2C0-939281C0B9A9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Careers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0509A-DC44-1027-5571-CF07F8FDE83F}"/>
              </a:ext>
            </a:extLst>
          </p:cNvPr>
          <p:cNvSpPr txBox="1"/>
          <p:nvPr/>
        </p:nvSpPr>
        <p:spPr>
          <a:xfrm>
            <a:off x="1146969" y="2020953"/>
            <a:ext cx="598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㈜ </a:t>
            </a:r>
            <a:r>
              <a:rPr lang="en-US" altLang="ko-KR" sz="2400" b="1" dirty="0"/>
              <a:t>ALYES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D475-E148-C114-D1F6-E24A960FC6A5}"/>
              </a:ext>
            </a:extLst>
          </p:cNvPr>
          <p:cNvSpPr txBox="1"/>
          <p:nvPr/>
        </p:nvSpPr>
        <p:spPr>
          <a:xfrm>
            <a:off x="1146968" y="2465504"/>
            <a:ext cx="955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🗓️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2024.12 ~ 202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5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.02 (2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개월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) | </a:t>
            </a:r>
            <a:r>
              <a:rPr lang="ko-KR" altLang="en-US" dirty="0">
                <a:solidFill>
                  <a:srgbClr val="0563C1"/>
                </a:solidFill>
              </a:rPr>
              <a:t>🏢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 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회사 정보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E64F4B-2225-C24B-D172-7F5EE3F22284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14F56A-3C2D-63C5-7445-C117F90B4A58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6A37A5-EDBF-205C-4BE5-0F82A973C35D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F5307-D553-005C-C90E-A0F3B25F1A45}"/>
              </a:ext>
            </a:extLst>
          </p:cNvPr>
          <p:cNvSpPr txBox="1"/>
          <p:nvPr/>
        </p:nvSpPr>
        <p:spPr>
          <a:xfrm>
            <a:off x="1146969" y="4307405"/>
            <a:ext cx="598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㈜ </a:t>
            </a:r>
            <a:r>
              <a:rPr lang="ko-KR" altLang="en-US" sz="2400" b="1" dirty="0" err="1"/>
              <a:t>윈즈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F6421-4BC7-41B4-0243-14E511BB3445}"/>
              </a:ext>
            </a:extLst>
          </p:cNvPr>
          <p:cNvSpPr txBox="1"/>
          <p:nvPr/>
        </p:nvSpPr>
        <p:spPr>
          <a:xfrm>
            <a:off x="1146968" y="4769070"/>
            <a:ext cx="955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🗓️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2020.01 ~ 2022.10 (2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10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개월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) 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🏢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회사 홈페이지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업력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25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  <a:effectLst/>
              </a:rPr>
              <a:t>년차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중소기업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사원수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45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명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FA07C2-229F-B71F-CE9E-5CD962664862}"/>
              </a:ext>
            </a:extLst>
          </p:cNvPr>
          <p:cNvSpPr txBox="1"/>
          <p:nvPr/>
        </p:nvSpPr>
        <p:spPr>
          <a:xfrm>
            <a:off x="1146968" y="2789316"/>
            <a:ext cx="8973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 기술</a:t>
            </a:r>
            <a:r>
              <a:rPr lang="en-US" altLang="ko-KR" dirty="0"/>
              <a:t>: Spring boot, Spring </a:t>
            </a:r>
            <a:r>
              <a:rPr lang="en-US" altLang="ko-KR" dirty="0" err="1"/>
              <a:t>WebFlux</a:t>
            </a:r>
            <a:r>
              <a:rPr lang="en-US" altLang="ko-KR" dirty="0"/>
              <a:t>, Spring Security, MySQL, JWT, Docker,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생활 체육</a:t>
            </a:r>
            <a:r>
              <a:rPr lang="en-US" altLang="ko-KR" dirty="0"/>
              <a:t>, </a:t>
            </a:r>
            <a:r>
              <a:rPr lang="ko-KR" altLang="en-US" dirty="0"/>
              <a:t>유소년 체육 스타트업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OnePass </a:t>
            </a:r>
            <a:r>
              <a:rPr lang="ko-KR" altLang="en-US" dirty="0"/>
              <a:t>프로젝트 외주 진행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F83610-EA15-0664-CBA9-10429A4689E2}"/>
              </a:ext>
            </a:extLst>
          </p:cNvPr>
          <p:cNvSpPr txBox="1"/>
          <p:nvPr/>
        </p:nvSpPr>
        <p:spPr>
          <a:xfrm>
            <a:off x="1146968" y="5075768"/>
            <a:ext cx="9049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 기술</a:t>
            </a:r>
            <a:r>
              <a:rPr lang="en-US" altLang="ko-KR" dirty="0"/>
              <a:t>:Android, ASP.NET, Java, C#, asp, html, Window Server, Oracle,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개인</a:t>
            </a:r>
            <a:r>
              <a:rPr lang="en-US" altLang="ko-KR" dirty="0"/>
              <a:t>, </a:t>
            </a:r>
            <a:r>
              <a:rPr lang="ko-KR" altLang="en-US" dirty="0"/>
              <a:t>기업 고객에게 네트워크 및 보안 솔루션 제공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자사 서비스 안드로이드 앱 및 </a:t>
            </a:r>
            <a:r>
              <a:rPr lang="en-US" altLang="ko-KR" dirty="0"/>
              <a:t>ASP, ASP.NET </a:t>
            </a:r>
            <a:r>
              <a:rPr lang="ko-KR" altLang="en-US" dirty="0"/>
              <a:t>서비스 개발 및 유지보수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웹 서버 운영 및 이슈 모니터링</a:t>
            </a:r>
            <a:r>
              <a:rPr lang="en-US" altLang="ko-KR" dirty="0"/>
              <a:t>, </a:t>
            </a:r>
            <a:r>
              <a:rPr lang="ko-KR" altLang="en-US" dirty="0"/>
              <a:t>보안 점검 위반 사유 대처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2751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33C7-B939-E852-7E92-64AC1B3D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77123-1149-21F2-28BC-3236CDBFA25C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Projects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2A834-9E7E-AF9B-60C7-5B5BCA18EDEE}"/>
              </a:ext>
            </a:extLst>
          </p:cNvPr>
          <p:cNvSpPr txBox="1"/>
          <p:nvPr/>
        </p:nvSpPr>
        <p:spPr>
          <a:xfrm>
            <a:off x="1146968" y="1272808"/>
            <a:ext cx="1002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Legacy &gt; Cloud </a:t>
            </a:r>
            <a:r>
              <a:rPr lang="ko-KR" altLang="en-US" sz="2400" b="1" dirty="0"/>
              <a:t>서버 이전 및 </a:t>
            </a:r>
            <a:r>
              <a:rPr lang="en-US" altLang="ko-KR" sz="2400" b="1" dirty="0"/>
              <a:t>DB </a:t>
            </a:r>
            <a:r>
              <a:rPr lang="ko-KR" altLang="en-US" sz="2400" b="1" dirty="0"/>
              <a:t>이기종간 </a:t>
            </a:r>
            <a:r>
              <a:rPr lang="en-US" altLang="ko-KR" sz="2400" b="1" dirty="0"/>
              <a:t>Migration </a:t>
            </a:r>
            <a:r>
              <a:rPr lang="ko-KR" altLang="en-US" sz="2400" b="1" dirty="0"/>
              <a:t>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5C18-D4DE-7A85-0904-A8E94AED404E}"/>
              </a:ext>
            </a:extLst>
          </p:cNvPr>
          <p:cNvSpPr txBox="1"/>
          <p:nvPr/>
        </p:nvSpPr>
        <p:spPr>
          <a:xfrm>
            <a:off x="1146968" y="1734473"/>
            <a:ext cx="11235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노후화 된 </a:t>
            </a:r>
            <a:r>
              <a:rPr lang="en-US" altLang="ko-KR" dirty="0"/>
              <a:t>Legacy </a:t>
            </a:r>
            <a:r>
              <a:rPr lang="ko-KR" altLang="en-US" dirty="0"/>
              <a:t>서버 장비의 폐기를 위한 </a:t>
            </a:r>
            <a:r>
              <a:rPr lang="ko-KR" altLang="en-US" dirty="0" err="1"/>
              <a:t>원청</a:t>
            </a:r>
            <a:r>
              <a:rPr lang="ko-KR" altLang="en-US" dirty="0"/>
              <a:t> 업체의 요청으로 서버 이전 작업 진행이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일반 서버 환경에서 </a:t>
            </a:r>
            <a:r>
              <a:rPr lang="en-US" altLang="ko-KR" dirty="0"/>
              <a:t>Cloud </a:t>
            </a:r>
            <a:r>
              <a:rPr lang="ko-KR" altLang="en-US" dirty="0"/>
              <a:t>서버 환경으로의 웹 및 파일 서버 이전 진행</a:t>
            </a:r>
            <a:r>
              <a:rPr lang="en-US" altLang="ko-KR" dirty="0"/>
              <a:t>. Cloud </a:t>
            </a:r>
            <a:r>
              <a:rPr lang="ko-KR" altLang="en-US" dirty="0"/>
              <a:t>서버의 경우 </a:t>
            </a:r>
            <a:r>
              <a:rPr lang="ko-KR" altLang="en-US" dirty="0" err="1"/>
              <a:t>원청</a:t>
            </a:r>
            <a:r>
              <a:rPr lang="ko-KR" altLang="en-US" dirty="0"/>
              <a:t> 업체에서 운영하는 </a:t>
            </a:r>
            <a:r>
              <a:rPr lang="en-US" altLang="ko-KR" dirty="0"/>
              <a:t>Cloud </a:t>
            </a:r>
            <a:r>
              <a:rPr lang="ko-KR" altLang="en-US" dirty="0"/>
              <a:t>서비스인 </a:t>
            </a:r>
            <a:r>
              <a:rPr lang="en-US" altLang="ko-KR" dirty="0"/>
              <a:t>IaaS </a:t>
            </a:r>
            <a:r>
              <a:rPr lang="ko-KR" altLang="en-US" dirty="0"/>
              <a:t>환경으로 전입</a:t>
            </a:r>
            <a:r>
              <a:rPr lang="en-US" altLang="ko-KR" dirty="0"/>
              <a:t>. DB</a:t>
            </a:r>
            <a:r>
              <a:rPr lang="ko-KR" altLang="en-US" dirty="0"/>
              <a:t>의 경우 </a:t>
            </a:r>
            <a:r>
              <a:rPr lang="ko-KR" altLang="en-US" dirty="0" err="1"/>
              <a:t>원청</a:t>
            </a:r>
            <a:r>
              <a:rPr lang="ko-KR" altLang="en-US" dirty="0"/>
              <a:t> 업체의 라이선스 만기 이슈로 인해 </a:t>
            </a:r>
            <a:r>
              <a:rPr lang="en-US" altLang="ko-KR" dirty="0"/>
              <a:t>SQL Server(MSSQL) </a:t>
            </a:r>
            <a:r>
              <a:rPr lang="ko-KR" altLang="en-US" dirty="0"/>
              <a:t>에서 </a:t>
            </a:r>
            <a:r>
              <a:rPr lang="en-US" altLang="ko-KR" dirty="0"/>
              <a:t>Oracle</a:t>
            </a:r>
            <a:r>
              <a:rPr lang="ko-KR" altLang="en-US" dirty="0"/>
              <a:t>로의 </a:t>
            </a:r>
            <a:r>
              <a:rPr lang="en-US" altLang="ko-KR" dirty="0"/>
              <a:t>Migration </a:t>
            </a:r>
            <a:r>
              <a:rPr lang="ko-KR" altLang="en-US" dirty="0"/>
              <a:t>진행 필요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FA6FB4-6603-7602-A99D-2A080CBEACA1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D453D-CA35-8208-8295-18A52B65134D}"/>
              </a:ext>
            </a:extLst>
          </p:cNvPr>
          <p:cNvSpPr txBox="1"/>
          <p:nvPr/>
        </p:nvSpPr>
        <p:spPr>
          <a:xfrm>
            <a:off x="1120555" y="3007528"/>
            <a:ext cx="1002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effectLst/>
              </a:rPr>
              <a:t>🛠️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</a:rPr>
              <a:t>ASP, ASP.NET, C#, </a:t>
            </a:r>
            <a:r>
              <a:rPr lang="en-US" altLang="ko-KR" b="1" dirty="0" err="1">
                <a:effectLst/>
              </a:rPr>
              <a:t>Javascript</a:t>
            </a:r>
            <a:r>
              <a:rPr lang="en-US" altLang="ko-KR" b="1" dirty="0">
                <a:effectLst/>
              </a:rPr>
              <a:t>, html, SQL Server, Oracle, Window Server, IIS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A745E-A442-1B75-0AE2-C7BD4734F127}"/>
              </a:ext>
            </a:extLst>
          </p:cNvPr>
          <p:cNvSpPr txBox="1"/>
          <p:nvPr/>
        </p:nvSpPr>
        <p:spPr>
          <a:xfrm>
            <a:off x="1146968" y="3469193"/>
            <a:ext cx="1123553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서버 </a:t>
            </a:r>
            <a:r>
              <a:rPr lang="en-US" altLang="ko-KR" dirty="0"/>
              <a:t>OS </a:t>
            </a:r>
            <a:r>
              <a:rPr lang="ko-KR" altLang="en-US" dirty="0"/>
              <a:t>업데이트를 통해 기존 </a:t>
            </a:r>
            <a:r>
              <a:rPr lang="en-US" altLang="ko-KR" dirty="0"/>
              <a:t>Legacy </a:t>
            </a:r>
            <a:r>
              <a:rPr lang="ko-KR" altLang="en-US" dirty="0"/>
              <a:t>서버의 보안 이슈 사항 해결 및 사용자 데이터가 </a:t>
            </a:r>
            <a:r>
              <a:rPr lang="en-US" altLang="ko-KR" dirty="0"/>
              <a:t>DMZ</a:t>
            </a:r>
            <a:r>
              <a:rPr lang="ko-KR" altLang="en-US" dirty="0"/>
              <a:t>존으로 이관 되며 데이터 보호 수준 향상</a:t>
            </a:r>
            <a:r>
              <a:rPr lang="en-US" altLang="ko-KR" dirty="0"/>
              <a:t>. </a:t>
            </a:r>
            <a:r>
              <a:rPr lang="ko-KR" altLang="en-US" dirty="0"/>
              <a:t>전반적인 서비스 보안 강화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서버의 상태를 </a:t>
            </a:r>
            <a:r>
              <a:rPr lang="en-US" altLang="ko-KR" dirty="0"/>
              <a:t>Cloud </a:t>
            </a:r>
            <a:r>
              <a:rPr lang="ko-KR" altLang="en-US" dirty="0"/>
              <a:t>관제 팀에서 주시하기 때문에 리소스 이슈 발생 시 민감한 확인 및 빠른 대처 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입사 후 담당한 첫 대규모 프로젝트로</a:t>
            </a:r>
            <a:r>
              <a:rPr lang="en-US" altLang="ko-KR" dirty="0"/>
              <a:t>, </a:t>
            </a:r>
            <a:r>
              <a:rPr lang="ko-KR" altLang="en-US" dirty="0"/>
              <a:t>이를 통해 운영되는 서비스의 흐름을 파악하고 어떠한 서비스들이 운영되고 있는 지 확인하는 시간이 되었음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비즈니스 로직이 어느 부분에 어떻게 구현 되어 있고</a:t>
            </a:r>
            <a:r>
              <a:rPr lang="en-US" altLang="ko-KR" dirty="0"/>
              <a:t>, </a:t>
            </a:r>
            <a:r>
              <a:rPr lang="ko-KR" altLang="en-US" dirty="0"/>
              <a:t>어떠한 방식으로 동작하는 지 큰 흐름들을 파악할 수 있게 되어 추후 유지보수 업무 진행에 큰 도움을 받음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7365B2-8CFF-9990-5C4E-6812009154EB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EFDC22-5B44-44CF-C2FC-DE0820C9711D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FDCEF-4D6B-EC98-07D4-8D5E980FADCB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21F52-12C5-060F-F91F-3271CF981B64}"/>
              </a:ext>
            </a:extLst>
          </p:cNvPr>
          <p:cNvSpPr txBox="1"/>
          <p:nvPr/>
        </p:nvSpPr>
        <p:spPr>
          <a:xfrm>
            <a:off x="1147523" y="6804351"/>
            <a:ext cx="14574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92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EEA4-7402-42B7-6E93-E522FFE4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583BA0-5616-B838-810E-A2D91E81C124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Projects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D4A63-2BC2-F5D5-1B07-EACEB4C11BE1}"/>
              </a:ext>
            </a:extLst>
          </p:cNvPr>
          <p:cNvSpPr txBox="1"/>
          <p:nvPr/>
        </p:nvSpPr>
        <p:spPr>
          <a:xfrm>
            <a:off x="1146968" y="1272808"/>
            <a:ext cx="8301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 </a:t>
            </a:r>
            <a:r>
              <a:rPr lang="en-US" altLang="ko-KR" sz="2400" b="1" dirty="0" err="1"/>
              <a:t>Ahnlab</a:t>
            </a:r>
            <a:r>
              <a:rPr lang="ko-KR" altLang="en-US" sz="2400" b="1" dirty="0"/>
              <a:t>의 </a:t>
            </a:r>
            <a:r>
              <a:rPr lang="ko-KR" altLang="en-US" sz="2400" b="1" dirty="0" err="1"/>
              <a:t>백신툴을</a:t>
            </a:r>
            <a:r>
              <a:rPr lang="ko-KR" altLang="en-US" sz="2400" b="1" dirty="0"/>
              <a:t> 이용한 실시간 감시 기능 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7903C-8651-1C7B-B417-EE759E47D41C}"/>
              </a:ext>
            </a:extLst>
          </p:cNvPr>
          <p:cNvSpPr txBox="1"/>
          <p:nvPr/>
        </p:nvSpPr>
        <p:spPr>
          <a:xfrm>
            <a:off x="1146968" y="1734473"/>
            <a:ext cx="11388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기존 검사 기능 프로세스는 앱에 들어가 검사를 진행 해야만 위협 사항을 발견하는 프로세스로 구성됨</a:t>
            </a:r>
            <a:r>
              <a:rPr lang="en-US" altLang="ko-KR" dirty="0"/>
              <a:t>. </a:t>
            </a:r>
            <a:r>
              <a:rPr lang="ko-KR" altLang="en-US" dirty="0"/>
              <a:t>늘어가는 모바일 앱 피해 사태와 비교 해 볼 때</a:t>
            </a:r>
            <a:r>
              <a:rPr lang="en-US" altLang="ko-KR" dirty="0"/>
              <a:t>, </a:t>
            </a:r>
            <a:r>
              <a:rPr lang="ko-KR" altLang="en-US" dirty="0"/>
              <a:t>완전한 보안 서비스 제공이 어렵다는 판단이 들어 추가 기능이 필요한 것으로 결론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기존 </a:t>
            </a:r>
            <a:r>
              <a:rPr lang="en-US" altLang="ko-KR" dirty="0" err="1"/>
              <a:t>Ahnlab</a:t>
            </a:r>
            <a:r>
              <a:rPr lang="ko-KR" altLang="en-US" dirty="0"/>
              <a:t>에서 구매하며 사용하던 라이브러리</a:t>
            </a:r>
            <a:r>
              <a:rPr lang="en-US" altLang="ko-KR" dirty="0"/>
              <a:t>(MSDK)</a:t>
            </a:r>
            <a:r>
              <a:rPr lang="ko-KR" altLang="en-US" dirty="0"/>
              <a:t> 확인 결과</a:t>
            </a:r>
            <a:r>
              <a:rPr lang="en-US" altLang="ko-KR" dirty="0"/>
              <a:t>, </a:t>
            </a:r>
            <a:r>
              <a:rPr lang="ko-KR" altLang="en-US" dirty="0"/>
              <a:t>시간을 많이 들이지 않더라도 기능을 개발할 수 있음이 확인되어 고도화를 통해 앱 신규 기능 개발을 진행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638BDE-B03B-948D-840A-274508440A12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67F0B-A09A-9E3B-15C6-EF68E8F013A5}"/>
              </a:ext>
            </a:extLst>
          </p:cNvPr>
          <p:cNvSpPr txBox="1"/>
          <p:nvPr/>
        </p:nvSpPr>
        <p:spPr>
          <a:xfrm>
            <a:off x="1120555" y="3007528"/>
            <a:ext cx="925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effectLst/>
              </a:rPr>
              <a:t>🛠️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</a:rPr>
              <a:t>Android Studio, Java, Android(Android </a:t>
            </a:r>
            <a:r>
              <a:rPr lang="en-US" altLang="ko-KR" b="1" dirty="0" err="1">
                <a:effectLst/>
              </a:rPr>
              <a:t>BroadCast</a:t>
            </a:r>
            <a:r>
              <a:rPr lang="en-US" altLang="ko-KR" b="1" dirty="0">
                <a:effectLst/>
              </a:rPr>
              <a:t>), MSDK(</a:t>
            </a:r>
            <a:r>
              <a:rPr lang="ko-KR" altLang="en-US" b="1" dirty="0" err="1">
                <a:effectLst/>
              </a:rPr>
              <a:t>안랩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</a:rPr>
              <a:t>Mobile SDK)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15035F-4512-45C9-B716-E85DFA14130B}"/>
              </a:ext>
            </a:extLst>
          </p:cNvPr>
          <p:cNvSpPr txBox="1"/>
          <p:nvPr/>
        </p:nvSpPr>
        <p:spPr>
          <a:xfrm>
            <a:off x="1146968" y="3469193"/>
            <a:ext cx="1123553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기존의 수동 검사 방식에서 벗어나 실시간으로 앱 설치 시 위협 여부 탐지 기능 제공</a:t>
            </a:r>
            <a:r>
              <a:rPr lang="en-US" altLang="ko-KR" dirty="0"/>
              <a:t>. </a:t>
            </a:r>
            <a:r>
              <a:rPr lang="ko-KR" altLang="en-US" dirty="0"/>
              <a:t>사용자의 개입 없이 자동으로 보안 기능이 실행되며 이를 통한 편의성 및 보안성 향상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Google Play </a:t>
            </a:r>
            <a:r>
              <a:rPr lang="ko-KR" altLang="en-US" dirty="0"/>
              <a:t>에 등록된 앱 뿐만이 아닌 </a:t>
            </a:r>
            <a:r>
              <a:rPr lang="en-US" altLang="ko-KR" dirty="0"/>
              <a:t>.</a:t>
            </a:r>
            <a:r>
              <a:rPr lang="en-US" altLang="ko-KR" dirty="0" err="1"/>
              <a:t>apk</a:t>
            </a:r>
            <a:r>
              <a:rPr lang="en-US" altLang="ko-KR" dirty="0"/>
              <a:t> </a:t>
            </a:r>
            <a:r>
              <a:rPr lang="ko-KR" altLang="en-US" dirty="0"/>
              <a:t>파일을 통한 앱 설치까지 감지 가능하며 보안 위협 대응력 강화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처음으로 사용자의 입장에서 어떠한 기능이 필요한 지 생각 해 보며</a:t>
            </a:r>
            <a:r>
              <a:rPr lang="en-US" altLang="ko-KR" dirty="0"/>
              <a:t> </a:t>
            </a:r>
            <a:r>
              <a:rPr lang="ko-KR" altLang="en-US" dirty="0"/>
              <a:t>이를 통해 어떠한 기능이 가장 효율적이며 사용자에게 필요한지</a:t>
            </a:r>
            <a:r>
              <a:rPr lang="en-US" altLang="ko-KR" dirty="0"/>
              <a:t>, </a:t>
            </a:r>
            <a:r>
              <a:rPr lang="ko-KR" altLang="en-US" dirty="0"/>
              <a:t>어떤 개발을 해야 최소한의 시간으로 최대한의 성과를 이룰 수 있는지 고민하며 개발을 진행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12E9FB-909D-13F3-D27D-0603B450898F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E3B61D-92B8-F41E-7900-757E87B7F0D7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581D6F-9A71-28FB-04A5-7ED6EC6BC50E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D47ED-113B-EB16-B8B3-66D1B696474A}"/>
              </a:ext>
            </a:extLst>
          </p:cNvPr>
          <p:cNvSpPr txBox="1"/>
          <p:nvPr/>
        </p:nvSpPr>
        <p:spPr>
          <a:xfrm>
            <a:off x="1147522" y="6804351"/>
            <a:ext cx="14893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72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33C7-B939-E852-7E92-64AC1B3D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77123-1149-21F2-28BC-3236CDBFA25C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</a:rPr>
              <a:t>Projects / </a:t>
            </a:r>
            <a:r>
              <a:rPr kumimoji="0" lang="ko-KR" alt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</a:rPr>
              <a:t>윈즈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2A834-9E7E-AF9B-60C7-5B5BCA18EDEE}"/>
              </a:ext>
            </a:extLst>
          </p:cNvPr>
          <p:cNvSpPr txBox="1"/>
          <p:nvPr/>
        </p:nvSpPr>
        <p:spPr>
          <a:xfrm>
            <a:off x="1146967" y="1272808"/>
            <a:ext cx="10761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3.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모바일 원격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점검툴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그리기 기능 개발 및 삼성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KNOX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를 사용한 터치 기능 고도화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5C18-D4DE-7A85-0904-A8E94AED404E}"/>
              </a:ext>
            </a:extLst>
          </p:cNvPr>
          <p:cNvSpPr txBox="1"/>
          <p:nvPr/>
        </p:nvSpPr>
        <p:spPr>
          <a:xfrm>
            <a:off x="1146968" y="1734473"/>
            <a:ext cx="11080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Google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 안드로이드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OS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업데이트 흐름이 하드웨어 제어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API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가 제한되는 추세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이에 따라 앱의 기능들이 점점 사용할 수 없게 되어가는 상황에서 서비스 유지를 위해 기능 고도화 필요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Google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 안드로이드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SDK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를 넘어선 외부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API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를 활용하여 기존 기능의 고도화 및 서비스 유지를 목표로 하는 프로젝트 진행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FA6FB4-6603-7602-A99D-2A080CBEACA1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SUIT Variable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D453D-CA35-8208-8295-18A52B65134D}"/>
              </a:ext>
            </a:extLst>
          </p:cNvPr>
          <p:cNvSpPr txBox="1"/>
          <p:nvPr/>
        </p:nvSpPr>
        <p:spPr>
          <a:xfrm>
            <a:off x="1120555" y="3007528"/>
            <a:ext cx="741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dirty="0">
                <a:effectLst/>
              </a:rPr>
              <a:t>🛠️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UIT Variable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Android Studio, Java, Android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A745E-A442-1B75-0AE2-C7BD4734F127}"/>
              </a:ext>
            </a:extLst>
          </p:cNvPr>
          <p:cNvSpPr txBox="1"/>
          <p:nvPr/>
        </p:nvSpPr>
        <p:spPr>
          <a:xfrm>
            <a:off x="1146967" y="3469193"/>
            <a:ext cx="1133565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성과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미리 입력 해 놓은 터치 이벤트만 실행하는 기존의 제한적인 기능에서 상담사의 터치 이벤트를 완벽 구현하도록 개발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Android SDK</a:t>
            </a:r>
            <a:r>
              <a:rPr lang="ko-KR" altLang="en-US" dirty="0"/>
              <a:t>만으로는 불가능한 기능을 외부 플랫폼 활용으로 극복</a:t>
            </a:r>
            <a:r>
              <a:rPr lang="en-US" altLang="ko-KR" dirty="0"/>
              <a:t>. </a:t>
            </a:r>
            <a:r>
              <a:rPr lang="ko-KR" altLang="en-US" dirty="0"/>
              <a:t>삼성 단말 대상 기능을 고도화 하여 국내 점유율이 높은 갤럭시 기반 앱 기능성을 강화</a:t>
            </a:r>
            <a:r>
              <a:rPr lang="en-US" altLang="ko-KR" dirty="0"/>
              <a:t>. </a:t>
            </a:r>
            <a:r>
              <a:rPr lang="ko-KR" altLang="en-US" dirty="0"/>
              <a:t>또한 해당 </a:t>
            </a:r>
            <a:r>
              <a:rPr lang="en-US" altLang="ko-KR" dirty="0"/>
              <a:t>API</a:t>
            </a:r>
            <a:r>
              <a:rPr lang="ko-KR" altLang="en-US" dirty="0"/>
              <a:t> 향후 활용을 위한 기반 확보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SUIT Variable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인사이트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대기업에서 만든 라이브러리 사용 및 공식 문서를 통해 어떻게 개발을 진행해야 하는지에 대한 경험</a:t>
            </a:r>
            <a:r>
              <a:rPr lang="en-US" altLang="ko-KR" dirty="0"/>
              <a:t>. </a:t>
            </a:r>
            <a:r>
              <a:rPr lang="ko-KR" altLang="en-US" dirty="0"/>
              <a:t>막연한 두려움 보다</a:t>
            </a:r>
            <a:r>
              <a:rPr lang="en-US" altLang="ko-KR" dirty="0"/>
              <a:t>, </a:t>
            </a:r>
            <a:r>
              <a:rPr lang="ko-KR" altLang="en-US" dirty="0"/>
              <a:t>자료조사 → 분석 → 구현을 통한 체계적인 개발 진행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사람이 할 수 있으면 나도 할 수 있다는 자신감을 함양</a:t>
            </a:r>
            <a:r>
              <a:rPr lang="en-US" altLang="ko-KR" dirty="0"/>
              <a:t>. </a:t>
            </a:r>
            <a:r>
              <a:rPr lang="ko-KR" altLang="en-US" dirty="0"/>
              <a:t>기술적 제약 환경에서도 문제 해결을 위한 다양한 접근 방식을 습득하고</a:t>
            </a:r>
            <a:r>
              <a:rPr lang="en-US" altLang="ko-KR" dirty="0"/>
              <a:t>, </a:t>
            </a:r>
            <a:r>
              <a:rPr lang="ko-KR" altLang="en-US" dirty="0"/>
              <a:t>안된다는 불안감 보단 구현 가능을 생각하며 조사하는 자세를 통해 개발 역량 증대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281449-081E-0BAD-7E4E-3C52BDAB9BEF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E0BDBA-3415-FD76-F0BD-4BE95D4C1562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5A836E-214F-958C-B8DB-1811E632B5EC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4EFA6-7296-ADE7-007B-CE0D15FAEC1E}"/>
              </a:ext>
            </a:extLst>
          </p:cNvPr>
          <p:cNvSpPr txBox="1"/>
          <p:nvPr/>
        </p:nvSpPr>
        <p:spPr>
          <a:xfrm>
            <a:off x="1147523" y="6804351"/>
            <a:ext cx="1393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24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02A3-6543-0A73-AA3C-BAE20E37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A581E9-27A9-D3F5-6351-40729EF8E946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Projects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8789B-D60C-B69D-1043-94AB3429D23D}"/>
              </a:ext>
            </a:extLst>
          </p:cNvPr>
          <p:cNvSpPr txBox="1"/>
          <p:nvPr/>
        </p:nvSpPr>
        <p:spPr>
          <a:xfrm>
            <a:off x="1146968" y="1272808"/>
            <a:ext cx="8156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4. </a:t>
            </a:r>
            <a:r>
              <a:rPr lang="ko-KR" altLang="en-US" sz="2400" b="1" dirty="0"/>
              <a:t>안드로이드 </a:t>
            </a:r>
            <a:r>
              <a:rPr lang="en-US" altLang="ko-KR" sz="2400" b="1" dirty="0"/>
              <a:t>OS </a:t>
            </a:r>
            <a:r>
              <a:rPr lang="ko-KR" altLang="en-US" sz="2400" b="1" dirty="0"/>
              <a:t>업데이트에 따른 이슈 및 업데이트 대응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9D3B6-9799-027C-B9DF-C1F6B196A04F}"/>
              </a:ext>
            </a:extLst>
          </p:cNvPr>
          <p:cNvSpPr txBox="1"/>
          <p:nvPr/>
        </p:nvSpPr>
        <p:spPr>
          <a:xfrm>
            <a:off x="1146967" y="1734473"/>
            <a:ext cx="12133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안드로이드 앱 </a:t>
            </a:r>
            <a:r>
              <a:rPr lang="en-US" altLang="ko-KR" dirty="0"/>
              <a:t>Google Play </a:t>
            </a:r>
            <a:r>
              <a:rPr lang="ko-KR" altLang="en-US" dirty="0"/>
              <a:t>신규 업로드 혹은 업데이트 시</a:t>
            </a:r>
            <a:r>
              <a:rPr lang="en-US" altLang="ko-KR" dirty="0"/>
              <a:t>, </a:t>
            </a:r>
            <a:r>
              <a:rPr lang="ko-KR" altLang="en-US" dirty="0"/>
              <a:t>구글에서 요청하는 앱 내부의 </a:t>
            </a:r>
            <a:r>
              <a:rPr lang="en-US" altLang="ko-KR" dirty="0"/>
              <a:t>Android </a:t>
            </a:r>
            <a:r>
              <a:rPr lang="ko-KR" altLang="en-US" dirty="0"/>
              <a:t>버전을 맞춰야 함</a:t>
            </a:r>
            <a:r>
              <a:rPr lang="en-US" altLang="ko-KR" dirty="0"/>
              <a:t>. (</a:t>
            </a:r>
            <a:r>
              <a:rPr lang="ko-KR" altLang="en-US" dirty="0">
                <a:effectLst/>
                <a:hlinkClick r:id="rId2"/>
              </a:rPr>
              <a:t>링크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앱 업데이트 시 기존 라이브러리 사용 불가에 따른 코드 수정 및 신규 기능 추가에 대한 개발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버전 업데이트 시 안드로이드 </a:t>
            </a:r>
            <a:r>
              <a:rPr lang="en-US" altLang="ko-KR" dirty="0"/>
              <a:t>SDK </a:t>
            </a:r>
            <a:r>
              <a:rPr lang="ko-KR" altLang="en-US" dirty="0"/>
              <a:t>버전에 따른 라이브러리 이슈 사항 대응 필요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미 업데이트 시 앱 스토어 노출 불가 이슈 발생으로 매 년 변경되는 요구 사항에 맞춰 업데이트를 진행 해야 함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A2D19F-8398-2770-2FB4-C321170BEAD3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B68F2-4A61-3729-364A-B7388C4C7717}"/>
              </a:ext>
            </a:extLst>
          </p:cNvPr>
          <p:cNvSpPr txBox="1"/>
          <p:nvPr/>
        </p:nvSpPr>
        <p:spPr>
          <a:xfrm>
            <a:off x="1120555" y="3007528"/>
            <a:ext cx="741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effectLst/>
              </a:rPr>
              <a:t>🛠️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</a:rPr>
              <a:t>Android Studio, Java, Android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4C001-9DE5-B853-6B53-4A9F9AD5D2C3}"/>
              </a:ext>
            </a:extLst>
          </p:cNvPr>
          <p:cNvSpPr txBox="1"/>
          <p:nvPr/>
        </p:nvSpPr>
        <p:spPr>
          <a:xfrm>
            <a:off x="1146968" y="3469193"/>
            <a:ext cx="1123553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지속적인 </a:t>
            </a:r>
            <a:r>
              <a:rPr lang="en-US" altLang="ko-KR" dirty="0"/>
              <a:t>OS </a:t>
            </a:r>
            <a:r>
              <a:rPr lang="ko-KR" altLang="en-US" dirty="0"/>
              <a:t>업데이트 대응을 통해 </a:t>
            </a:r>
            <a:r>
              <a:rPr lang="en-US" altLang="ko-KR" dirty="0"/>
              <a:t>Google Play</a:t>
            </a:r>
            <a:r>
              <a:rPr lang="ko-KR" altLang="en-US" dirty="0"/>
              <a:t>에서 앱 서비스 진행</a:t>
            </a:r>
            <a:r>
              <a:rPr lang="en-US" altLang="ko-KR" dirty="0"/>
              <a:t>. </a:t>
            </a:r>
            <a:r>
              <a:rPr lang="ko-KR" altLang="en-US" dirty="0"/>
              <a:t>이를 통해 사용자 이탈 방지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구글의 모바일 정책 변경에 능동적으로 대응</a:t>
            </a:r>
            <a:r>
              <a:rPr lang="en-US" altLang="ko-KR" dirty="0"/>
              <a:t>. </a:t>
            </a:r>
            <a:r>
              <a:rPr lang="ko-KR" altLang="en-US" dirty="0"/>
              <a:t>이를 통해 서비스 운영 경험 및 앱 배포 역량 강화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공식 문서를 통해 정보를 취득하는 방법과 역량을 기르고</a:t>
            </a:r>
            <a:r>
              <a:rPr lang="en-US" altLang="ko-KR" dirty="0"/>
              <a:t>, </a:t>
            </a:r>
            <a:r>
              <a:rPr lang="ko-KR" altLang="en-US" dirty="0"/>
              <a:t>이를 통해 문제에 대한 대응 및 해결 능력 함양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자사 서비스 앱의 기능들에 대해 어떠한 </a:t>
            </a:r>
            <a:r>
              <a:rPr lang="en-US" altLang="ko-KR" dirty="0"/>
              <a:t>SDK API</a:t>
            </a:r>
            <a:r>
              <a:rPr lang="ko-KR" altLang="en-US" dirty="0"/>
              <a:t>를 사용하고</a:t>
            </a:r>
            <a:r>
              <a:rPr lang="en-US" altLang="ko-KR" dirty="0"/>
              <a:t>, </a:t>
            </a:r>
            <a:r>
              <a:rPr lang="ko-KR" altLang="en-US" dirty="0"/>
              <a:t>어떠한 로직으로 동작하는지 전반적인 프로세스 파악의 경험 및 추후 발생하는 이슈들에 대해 명확하고 빠른 처리가 가능한 역량 증대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4FD3C1-80D9-733A-AE46-3E47ADCEBAC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02C9B0-EAE9-1752-32A3-3E4D727B5D05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CFA638-B6C3-E12D-53FA-D7193BAE7D1C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21B66-FBB0-82F1-600D-67FECB477FCF}"/>
              </a:ext>
            </a:extLst>
          </p:cNvPr>
          <p:cNvSpPr txBox="1"/>
          <p:nvPr/>
        </p:nvSpPr>
        <p:spPr>
          <a:xfrm>
            <a:off x="1147523" y="6804351"/>
            <a:ext cx="1691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j-ea"/>
                <a:ea typeface="+mj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72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C331-B298-F93C-8CDC-03F71DB0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9C13C-9534-D543-3ECF-66E106952DED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508D4E"/>
                </a:solidFill>
              </a:rPr>
              <a:t>기타 </a:t>
            </a:r>
            <a:r>
              <a:rPr lang="en-US" altLang="ko-KR" sz="4000" b="1" dirty="0">
                <a:solidFill>
                  <a:srgbClr val="508D4E"/>
                </a:solidFill>
              </a:rPr>
              <a:t>/ </a:t>
            </a:r>
            <a:r>
              <a:rPr lang="ko-KR" altLang="en-US" sz="4000" b="1" dirty="0">
                <a:solidFill>
                  <a:srgbClr val="508D4E"/>
                </a:solidFill>
              </a:rPr>
              <a:t>외주 </a:t>
            </a:r>
            <a:r>
              <a:rPr lang="en-US" altLang="ko-KR" sz="4000" b="1" dirty="0">
                <a:solidFill>
                  <a:srgbClr val="508D4E"/>
                </a:solidFill>
              </a:rPr>
              <a:t>- ALYES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B8473-9543-5D36-F00E-616F4178A878}"/>
              </a:ext>
            </a:extLst>
          </p:cNvPr>
          <p:cNvSpPr txBox="1"/>
          <p:nvPr/>
        </p:nvSpPr>
        <p:spPr>
          <a:xfrm>
            <a:off x="1146968" y="1272808"/>
            <a:ext cx="1002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OnePass </a:t>
            </a:r>
            <a:r>
              <a:rPr lang="ko-KR" altLang="en-US" sz="2400" b="1" dirty="0"/>
              <a:t>프로젝트 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E9CB7-DBB3-4991-8120-C2521A30A32F}"/>
              </a:ext>
            </a:extLst>
          </p:cNvPr>
          <p:cNvSpPr txBox="1"/>
          <p:nvPr/>
        </p:nvSpPr>
        <p:spPr>
          <a:xfrm>
            <a:off x="1146968" y="1734473"/>
            <a:ext cx="11235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유소년 스포츠 클럽 출결 및 셔틀</a:t>
            </a:r>
            <a:r>
              <a:rPr lang="en-US" altLang="ko-KR" dirty="0"/>
              <a:t>, </a:t>
            </a:r>
            <a:r>
              <a:rPr lang="ko-KR" altLang="en-US" dirty="0"/>
              <a:t>회비 납부 여부 관리를 위한 프로젝트 외주 진행</a:t>
            </a:r>
            <a:r>
              <a:rPr lang="en-US" altLang="ko-KR" dirty="0"/>
              <a:t>. </a:t>
            </a:r>
            <a:r>
              <a:rPr lang="ko-KR" altLang="en-US" dirty="0"/>
              <a:t>세월이 흘러도 몇몇 학원 및 스포츠 클럽 들은 학생들의 출결과 셔틀 탑승 여부</a:t>
            </a:r>
            <a:r>
              <a:rPr lang="en-US" altLang="ko-KR" dirty="0"/>
              <a:t>, </a:t>
            </a:r>
            <a:r>
              <a:rPr lang="ko-KR" altLang="en-US" dirty="0"/>
              <a:t>회비 관리 등을 일일이 직접 관리 하는 불편함이 있음을 확인</a:t>
            </a:r>
            <a:r>
              <a:rPr lang="en-US" altLang="ko-KR" dirty="0"/>
              <a:t>. </a:t>
            </a:r>
            <a:r>
              <a:rPr lang="ko-KR" altLang="en-US" dirty="0"/>
              <a:t>이에 외주 요청 담당자가 아이디어를 얻어 해당 업무 프로그램들을 하나로 쉽게 관리하고</a:t>
            </a:r>
            <a:r>
              <a:rPr lang="en-US" altLang="ko-KR" dirty="0"/>
              <a:t>, </a:t>
            </a:r>
            <a:r>
              <a:rPr lang="ko-KR" altLang="en-US" dirty="0"/>
              <a:t>프로그램의 구독료를 통한 수익 창출 모델을 만드는 프로젝트 외주 개발을 요청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68FD64-4438-CACB-7765-4503FE5898F0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96AC0-19DD-1374-AE24-9E518C229B56}"/>
              </a:ext>
            </a:extLst>
          </p:cNvPr>
          <p:cNvSpPr txBox="1"/>
          <p:nvPr/>
        </p:nvSpPr>
        <p:spPr>
          <a:xfrm>
            <a:off x="1120554" y="3007528"/>
            <a:ext cx="11871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effectLst/>
              </a:rPr>
              <a:t>🛠️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  <a:latin typeface="+mn-ea"/>
              </a:rPr>
              <a:t>Java, Spring Boot (Spring Data JPA, Spring Security), AWS EC2, RDS, </a:t>
            </a:r>
            <a:r>
              <a:rPr lang="en-US" altLang="ko-KR" b="1" dirty="0" err="1">
                <a:effectLst/>
                <a:latin typeface="+mn-ea"/>
              </a:rPr>
              <a:t>Github</a:t>
            </a:r>
            <a:r>
              <a:rPr lang="en-US" altLang="ko-KR" b="1" dirty="0">
                <a:effectLst/>
                <a:latin typeface="+mn-ea"/>
              </a:rPr>
              <a:t> Action, </a:t>
            </a:r>
            <a:r>
              <a:rPr lang="en-US" altLang="ko-KR" b="1" dirty="0" err="1">
                <a:effectLst/>
                <a:latin typeface="+mn-ea"/>
              </a:rPr>
              <a:t>MySql</a:t>
            </a:r>
            <a:r>
              <a:rPr lang="en-US" altLang="ko-KR" b="1" dirty="0">
                <a:effectLst/>
                <a:latin typeface="+mn-ea"/>
              </a:rPr>
              <a:t> </a:t>
            </a:r>
            <a:r>
              <a:rPr lang="ko-KR" altLang="en-US" b="1" dirty="0">
                <a:effectLst/>
                <a:latin typeface="+mn-ea"/>
              </a:rPr>
              <a:t>등</a:t>
            </a:r>
            <a:endParaRPr lang="ko-KR" altLang="en-US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8F7BE-E6DD-CE2A-4284-F638D0C9B9E6}"/>
              </a:ext>
            </a:extLst>
          </p:cNvPr>
          <p:cNvSpPr txBox="1"/>
          <p:nvPr/>
        </p:nvSpPr>
        <p:spPr>
          <a:xfrm>
            <a:off x="1146968" y="3469193"/>
            <a:ext cx="1123553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확정되지 않은 비즈니스 로직과 잦은 기획안 변경으로 </a:t>
            </a:r>
            <a:r>
              <a:rPr lang="en-US" altLang="ko-KR" dirty="0"/>
              <a:t>Agile </a:t>
            </a:r>
            <a:r>
              <a:rPr lang="ko-KR" altLang="en-US" dirty="0"/>
              <a:t>방법론을 적용하여 개발 진행</a:t>
            </a:r>
            <a:r>
              <a:rPr lang="en-US" altLang="ko-KR" dirty="0"/>
              <a:t>. </a:t>
            </a:r>
            <a:r>
              <a:rPr lang="ko-KR" altLang="en-US" dirty="0"/>
              <a:t>이를 통해 실무에 가까운 프로젝트 환경을 경험하였으며</a:t>
            </a:r>
            <a:r>
              <a:rPr lang="en-US" altLang="ko-KR" dirty="0"/>
              <a:t>, </a:t>
            </a:r>
            <a:r>
              <a:rPr lang="ko-KR" altLang="en-US" dirty="0"/>
              <a:t>실 유저가 발생한 경험을 통해 외주 담당자와 직접적으로 소통하며 </a:t>
            </a:r>
            <a:r>
              <a:rPr lang="en-US" altLang="ko-KR" dirty="0"/>
              <a:t>QA</a:t>
            </a:r>
            <a:r>
              <a:rPr lang="ko-KR" altLang="en-US" dirty="0"/>
              <a:t>를 진행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개의 팀이 경쟁 하는 구도로 진행 하였으며</a:t>
            </a:r>
            <a:r>
              <a:rPr lang="en-US" altLang="ko-KR" dirty="0"/>
              <a:t>, </a:t>
            </a:r>
            <a:r>
              <a:rPr lang="ko-KR" altLang="en-US" dirty="0"/>
              <a:t>결과 평과 지표인 디자인</a:t>
            </a:r>
            <a:r>
              <a:rPr lang="en-US" altLang="ko-KR" dirty="0"/>
              <a:t>, 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기능 모두 </a:t>
            </a:r>
            <a:r>
              <a:rPr lang="ko-KR" altLang="en-US" dirty="0" err="1"/>
              <a:t>경쟁팀</a:t>
            </a:r>
            <a:r>
              <a:rPr lang="ko-KR" altLang="en-US" dirty="0"/>
              <a:t> 보다 우위를 점해 프로토 타입 배포 및 실제 서비스 런칭 진행 경험</a:t>
            </a: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퇴사 후 실무에 가까운 프로젝트를 진행하며 잃었던 업무 적응력을 되찾을 수 있는 좋은 기회가 되었으며</a:t>
            </a:r>
            <a:r>
              <a:rPr lang="en-US" altLang="ko-KR" dirty="0"/>
              <a:t>, </a:t>
            </a:r>
            <a:r>
              <a:rPr lang="ko-KR" altLang="en-US" dirty="0"/>
              <a:t>개발자의 자존감 성립 및 상태 진단을 통해 부족한 점과 필요한 것이 무엇인지 진단 해 볼 좋은 기회가 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특히 </a:t>
            </a:r>
            <a:r>
              <a:rPr lang="en-US" altLang="ko-KR" dirty="0"/>
              <a:t>ERD </a:t>
            </a:r>
            <a:r>
              <a:rPr lang="ko-KR" altLang="en-US" dirty="0"/>
              <a:t>설계를 진행할 때</a:t>
            </a:r>
            <a:r>
              <a:rPr lang="en-US" altLang="ko-KR" dirty="0"/>
              <a:t>, </a:t>
            </a:r>
            <a:r>
              <a:rPr lang="ko-KR" altLang="en-US" dirty="0"/>
              <a:t>열심히 고민해서 </a:t>
            </a:r>
            <a:r>
              <a:rPr lang="en-US" altLang="ko-KR" dirty="0"/>
              <a:t>ERD</a:t>
            </a:r>
            <a:r>
              <a:rPr lang="ko-KR" altLang="en-US" dirty="0"/>
              <a:t>를 설계하고</a:t>
            </a:r>
            <a:r>
              <a:rPr lang="en-US" altLang="ko-KR" dirty="0"/>
              <a:t>, </a:t>
            </a:r>
            <a:r>
              <a:rPr lang="ko-KR" altLang="en-US" dirty="0"/>
              <a:t>추후 프로젝트 개발을 완료한 뒤 내가 고심하며 계획했던 내용들이 구현되었을 때 큰 성취감을 느낌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확실하지 않은 기획을 통해 개발할 경우 유연성과 확장성을 고려한 </a:t>
            </a:r>
            <a:r>
              <a:rPr lang="en-US" altLang="ko-KR" dirty="0"/>
              <a:t>ERD </a:t>
            </a:r>
            <a:r>
              <a:rPr lang="ko-KR" altLang="en-US" dirty="0"/>
              <a:t>설계로 사이드 이펙트를 최소화할 수 있었던 점에서 큰 보람을 느낌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6D2366-7B79-85DD-7229-A89D9F7DAB9C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054CD-74A6-B978-2E65-42612E29CE73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1D8EB-049F-A7A6-7FB9-4F4D193ADF33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CBBF8D-C36E-DA53-A3A2-28C4B5B9C697}"/>
              </a:ext>
            </a:extLst>
          </p:cNvPr>
          <p:cNvSpPr txBox="1"/>
          <p:nvPr/>
        </p:nvSpPr>
        <p:spPr>
          <a:xfrm>
            <a:off x="1147522" y="6804351"/>
            <a:ext cx="1351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3B2B4-BC93-05FC-2528-00130A70E3D3}"/>
              </a:ext>
            </a:extLst>
          </p:cNvPr>
          <p:cNvSpPr txBox="1"/>
          <p:nvPr/>
        </p:nvSpPr>
        <p:spPr>
          <a:xfrm>
            <a:off x="2622295" y="6804351"/>
            <a:ext cx="1351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200" b="1" dirty="0">
                <a:solidFill>
                  <a:srgbClr val="508D4E"/>
                </a:solidFill>
                <a:latin typeface="+mn-ea"/>
                <a:hlinkClick r:id="rId3"/>
              </a:rPr>
              <a:t>시연 영상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891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it">
      <a:majorFont>
        <a:latin typeface="SUIT Variable ExtraBold"/>
        <a:ea typeface="SUIT Variable ExtraBold"/>
        <a:cs typeface=""/>
      </a:majorFont>
      <a:minorFont>
        <a:latin typeface="SUIT Variable"/>
        <a:ea typeface="SUIT Variable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662</TotalTime>
  <Words>1940</Words>
  <Application>Microsoft Office PowerPoint</Application>
  <PresentationFormat>사용자 지정</PresentationFormat>
  <Paragraphs>168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SUIT Variable</vt:lpstr>
      <vt:lpstr>SUIT Variable ExtraBold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daejin mun</dc:creator>
  <cp:lastModifiedBy>daejin mun</cp:lastModifiedBy>
  <cp:revision>29</cp:revision>
  <dcterms:created xsi:type="dcterms:W3CDTF">2025-02-04T07:41:41Z</dcterms:created>
  <dcterms:modified xsi:type="dcterms:W3CDTF">2025-08-01T09:16:08Z</dcterms:modified>
</cp:coreProperties>
</file>